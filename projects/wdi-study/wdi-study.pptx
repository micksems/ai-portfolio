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9bed04d0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9bed04d0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a663dd14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a663dd14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9c7746ea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9c7746ea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a7290fef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a7290fef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a73e4fc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a73e4fc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3e4fc7b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a73e4fc7b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a73e4fc7b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a73e4fc7b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a73e4fc7b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a73e4fc7b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a73e4fc7b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a73e4fc7b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73e4fc7b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a73e4fc7b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73e4fc7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a73e4fc7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a73e4fc7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a73e4fc7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a73e4fc7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a73e4fc7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bc8c0c66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bc8c0c66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atabank.worldbank.org/source/world-development-indicator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i.org/10.1186/s13690-020-00402-5" TargetMode="External"/><Relationship Id="rId4" Type="http://schemas.openxmlformats.org/officeDocument/2006/relationships/hyperlink" Target="https://doi.org/10.1016/j.ecosys.2022.101017" TargetMode="External"/><Relationship Id="rId5" Type="http://schemas.openxmlformats.org/officeDocument/2006/relationships/hyperlink" Target="https://hanushek.stanford.edu/sites/default/files/publications/Education%20and%20Economic%20Growth.pdf" TargetMode="External"/><Relationship Id="rId6" Type="http://schemas.openxmlformats.org/officeDocument/2006/relationships/hyperlink" Target="https://doi.org/10.3389/fpsyg.2022.959026" TargetMode="External"/><Relationship Id="rId7" Type="http://schemas.openxmlformats.org/officeDocument/2006/relationships/hyperlink" Target="https://doi.org/10.33448/rsd-v12i5.40522" TargetMode="External"/><Relationship Id="rId8" Type="http://schemas.openxmlformats.org/officeDocument/2006/relationships/hyperlink" Target="https://assets.publishing.service.gov.uk/media/5b9b87f340f0b67896977bae/K4D_HDR_The_Contribution_of_Education_to_Economic_Growth_Final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342671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Times New Roman"/>
                <a:ea typeface="Times New Roman"/>
                <a:cs typeface="Times New Roman"/>
                <a:sym typeface="Times New Roman"/>
              </a:rPr>
              <a:t>Examining the Relationship Between Education and Economic Growth</a:t>
            </a:r>
            <a:r>
              <a:rPr b="1" lang="en" sz="3200">
                <a:latin typeface="Times New Roman"/>
                <a:ea typeface="Times New Roman"/>
                <a:cs typeface="Times New Roman"/>
                <a:sym typeface="Times New Roman"/>
              </a:rPr>
              <a:t>: A Country Level Study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029876"/>
            <a:ext cx="8520600" cy="18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Monet</a:t>
            </a:r>
            <a:b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Faris Al-Dhahi, James Bommentre, Michael Nunbhakdi, Misha Semenov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 Spring 2026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RP Raghupathi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620800" y="0"/>
            <a:ext cx="52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1903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Research Question and Rationale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021330"/>
            <a:ext cx="8631300" cy="39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there an association between education level and economic growth?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 was linked to productivity, income growth, and stronger labor market outcomes.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 investment in education varied significantly across countries and regions.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[4, 5]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 research showed positive but inconsistent results across income levels and regions.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study provided evidence to support informed education and economic policy decisions.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620800" y="0"/>
            <a:ext cx="52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32336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Importance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067650"/>
            <a:ext cx="8520600" cy="3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education levels were associated with lower poverty rates and a higher standard of living.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8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Countries that invested more in education tended to show stronger long-term economic performance.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8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this relationship can help policymakers decide where to direct education spending.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8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findings were relevant to governments, international organizations, and business leaders.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8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individual level, higher education was linked to better employment, higher income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overall quality of life.  [1]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5"/>
              </a:spcBef>
              <a:spcAft>
                <a:spcPts val="85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8620800" y="0"/>
            <a:ext cx="52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7081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Hypotheses and Variables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114300" y="705625"/>
            <a:ext cx="9029700" cy="41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positive association between government education spending and GDP per capita growth.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levels of tertiary enrollment are associated with higher national income levels.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educational attainment is associated with higher GDP growth.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an inverse relationship between poverty rates and educational attainment.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such as education spending, tertiary enrollment, teacher quality, and educational attainment measure development in education.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GDP growth, GNI per capita, the Gini index, and employment indicators capture overall economic development, income levels, and the labor market.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8620800" y="0"/>
            <a:ext cx="52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77436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Data Description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46144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59 Countries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Years (2014–2020)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Variables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size (volume): 146 rows × 13 variables × 7 years = 13,286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points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World Bank — World Development Indicators </a:t>
            </a:r>
            <a:r>
              <a:rPr lang="en" sz="2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https://databank.worldbank.org/source/world-development-indicators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types: Numeric (integer), Character (categorical)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Scale: Ratio and Nominal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Preprocessing: Data was cleaned and normalized in Excel, with ChatGPT used to assist in structuring and verifying the normalization process.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8620800" y="0"/>
            <a:ext cx="52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8620800" y="0"/>
            <a:ext cx="52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61600" y="175823"/>
            <a:ext cx="86208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Is There an Inverse Relationship Between Tertiary Enrollment and Poverty Across Regions?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1534" y="1022514"/>
            <a:ext cx="3220925" cy="255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5800" y="1983575"/>
            <a:ext cx="1964676" cy="395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1986899" y="3504375"/>
            <a:ext cx="547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Figure 1: A Line Chart of Average Tertiary Enrollment and Poverty Rate Grouped by World Region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3695287"/>
            <a:ext cx="8520600" cy="14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6"/>
              <a:buFont typeface="Times New Roman"/>
              <a:buChar char="●"/>
            </a:pPr>
            <a:r>
              <a:rPr lang="en" sz="137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 is a line chart showing the relationship between average tertiary school enrollment and the average poverty rate across four world regions.</a:t>
            </a:r>
            <a:endParaRPr sz="137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6"/>
              <a:buFont typeface="Times New Roman"/>
              <a:buChar char="●"/>
            </a:pPr>
            <a:r>
              <a:rPr lang="en" sz="137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revealed that as tertiary enrollment increased across regions, poverty rates consistently decreased, with Africa showing the highest poverty and lowest enrollment while Europe showed the opposite.</a:t>
            </a:r>
            <a:endParaRPr sz="137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6"/>
              <a:buFont typeface="Times New Roman"/>
              <a:buChar char="●"/>
            </a:pPr>
            <a:r>
              <a:rPr lang="en" sz="137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Countries looking to reduce poverty should consider expanding access to higher education as regions with greater tertiary enrollment consistently showed lower poverty levels.</a:t>
            </a:r>
            <a:endParaRPr sz="137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7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72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76"/>
              <a:buFont typeface="Times New Roman"/>
              <a:buChar char="●"/>
            </a:pPr>
            <a:r>
              <a:t/>
            </a:r>
            <a:endParaRPr sz="137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/>
        </p:nvSpPr>
        <p:spPr>
          <a:xfrm>
            <a:off x="8620800" y="0"/>
            <a:ext cx="52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0" name="Google Shape;100;p19" title="Screenshot 2026-05-04 135330.png"/>
          <p:cNvPicPr preferRelativeResize="0"/>
          <p:nvPr/>
        </p:nvPicPr>
        <p:blipFill rotWithShape="1">
          <a:blip r:embed="rId3">
            <a:alphaModFix/>
          </a:blip>
          <a:srcRect b="5641" l="17577" r="12448" t="4681"/>
          <a:stretch/>
        </p:blipFill>
        <p:spPr>
          <a:xfrm>
            <a:off x="0" y="0"/>
            <a:ext cx="6232575" cy="523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5417375" y="103750"/>
            <a:ext cx="3352800" cy="1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There a Negative Association Between Educational Attainment and Poverty Rates Across Regions?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165500" y="219550"/>
            <a:ext cx="81000" cy="70800"/>
          </a:xfrm>
          <a:prstGeom prst="rect">
            <a:avLst/>
          </a:prstGeom>
          <a:solidFill>
            <a:srgbClr val="6026D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165500" y="382650"/>
            <a:ext cx="81000" cy="70800"/>
          </a:xfrm>
          <a:prstGeom prst="rect">
            <a:avLst/>
          </a:prstGeom>
          <a:solidFill>
            <a:srgbClr val="A4A5A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246500" y="113700"/>
            <a:ext cx="18543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Avg. Poverty headcount ($4.20/day)</a:t>
            </a:r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246500" y="261450"/>
            <a:ext cx="14652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Avg.Educational Attainment</a:t>
            </a:r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(At least Bachelor’s)</a:t>
            </a:r>
            <a:endParaRPr sz="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5114750" y="4639800"/>
            <a:ext cx="38304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2: A Radial Chart of Poverty Headcount and Bachelor’s Attainment: Country Level Analysis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5945500" y="1554425"/>
            <a:ext cx="3063600" cy="28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 is a radial chart comparing average bachelor’s attainment and poverty headcount ratios across countries.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support the hypothesis and show that higher educational attainment negatively affects economic insecurity (poverty).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Policies that expand access to higher education may help reduce long-term poverty.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152225" y="155453"/>
            <a:ext cx="85206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Does government spending on education relate to GDP per capita growth?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214500" y="3911476"/>
            <a:ext cx="8715000" cy="12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 is a scatter plot showing the relationship between average government expenditure on education (% of GDP) and average GDP per capita growth across countries, with a linear trendline.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trendline reveals a statistically significant negative association (p-value: 0.08, R²: 0.21); countries that spend more on education tend to have lower GDP per capita growth rates.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 spending alone does not determine economic growth; policymakers should consider other factors such as trade and infrastructure and see education as a longer term investment when aiming to boost GDP growth.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8620800" y="0"/>
            <a:ext cx="52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8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2235075" y="3561900"/>
            <a:ext cx="48615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3: 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scatter plot showing the relationship between average government expenditure on education (% of GDP) and average GDP per capita growth across regions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087" y="600954"/>
            <a:ext cx="4673824" cy="306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6575" y="1204516"/>
            <a:ext cx="1297450" cy="185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/>
        </p:nvSpPr>
        <p:spPr>
          <a:xfrm>
            <a:off x="8620800" y="0"/>
            <a:ext cx="52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9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 rotWithShape="1">
          <a:blip r:embed="rId3">
            <a:alphaModFix/>
          </a:blip>
          <a:srcRect b="0" l="4040" r="0" t="0"/>
          <a:stretch/>
        </p:blipFill>
        <p:spPr>
          <a:xfrm>
            <a:off x="1219200" y="1040070"/>
            <a:ext cx="3252574" cy="2602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1775" y="960620"/>
            <a:ext cx="3467349" cy="268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9200" y="3341195"/>
            <a:ext cx="3252573" cy="3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71775" y="3355045"/>
            <a:ext cx="3467349" cy="2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300748" y="173879"/>
            <a:ext cx="854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Is There a Positive Association Between Educational Attainment and National Income Across Countries?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1362359" y="3573048"/>
            <a:ext cx="809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Figure 4: Side-by-Side Filled Maps of Average Educational Attainment and GNI per Capita Across Countries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3755741"/>
            <a:ext cx="8520600" cy="14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6"/>
              <a:buFont typeface="Times New Roman"/>
              <a:buChar char="●"/>
            </a:pPr>
            <a:r>
              <a:rPr lang="en" sz="137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side-by-side filled map displaying average educational attainment and GNI per capita across countries from 2014-2020.</a:t>
            </a:r>
            <a:endParaRPr sz="137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6"/>
              <a:buFont typeface="Times New Roman"/>
              <a:buChar char="●"/>
            </a:pPr>
            <a:r>
              <a:rPr lang="en" sz="137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revealed that countries with higher educational attainment consistently showed higher national income, with nearly identical geographic patterns across both maps.</a:t>
            </a:r>
            <a:endParaRPr sz="137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6"/>
              <a:buFont typeface="Times New Roman"/>
              <a:buChar char="●"/>
            </a:pPr>
            <a:r>
              <a:rPr lang="en" sz="137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Countries looking to improve national income should prioritize expanding access to higher education as a long-term development strategy.</a:t>
            </a:r>
            <a:endParaRPr sz="137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/>
        </p:nvSpPr>
        <p:spPr>
          <a:xfrm>
            <a:off x="8620800" y="0"/>
            <a:ext cx="52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" name="Google Shape;135;p22"/>
          <p:cNvSpPr txBox="1"/>
          <p:nvPr>
            <p:ph type="title"/>
          </p:nvPr>
        </p:nvSpPr>
        <p:spPr>
          <a:xfrm>
            <a:off x="186900" y="190419"/>
            <a:ext cx="8645400" cy="8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Times New Roman"/>
                <a:ea typeface="Times New Roman"/>
                <a:cs typeface="Times New Roman"/>
                <a:sym typeface="Times New Roman"/>
              </a:rPr>
              <a:t>Is There a Positive Relationship Between Tertiary Enrollment and National Income Across Regions?</a:t>
            </a:r>
            <a:endParaRPr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3766827"/>
            <a:ext cx="8520600" cy="14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6"/>
              <a:buFont typeface="Times New Roman"/>
              <a:buChar char="●"/>
            </a:pPr>
            <a:r>
              <a:rPr lang="en" sz="137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dual-axis bar and line chart showing average tertiary enrollment and GNI per capita across four world regions from 2014-2020.</a:t>
            </a:r>
            <a:endParaRPr sz="137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6"/>
              <a:buFont typeface="Times New Roman"/>
              <a:buChar char="●"/>
            </a:pPr>
            <a:r>
              <a:rPr lang="en" sz="137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showed that as tertiary enrollment increased across regions, so did GNI per capita, with Europe highest and Africa lowest in both.</a:t>
            </a:r>
            <a:endParaRPr sz="137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6"/>
              <a:buFont typeface="Times New Roman"/>
              <a:buChar char="●"/>
            </a:pPr>
            <a:r>
              <a:rPr lang="en" sz="137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Countries looking to improve national income should consider expanding access to higher education as a long-term development strategy.</a:t>
            </a:r>
            <a:endParaRPr sz="137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113" y="1202225"/>
            <a:ext cx="4578974" cy="233037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 txBox="1"/>
          <p:nvPr/>
        </p:nvSpPr>
        <p:spPr>
          <a:xfrm>
            <a:off x="1257713" y="3522781"/>
            <a:ext cx="688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Figure 5: Dual Axis Bar and Line Chart of Average Tertiary Enrollment and GNI per Capita Grouped by World Region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9075" y="2106634"/>
            <a:ext cx="1821725" cy="521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40600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00">
                <a:latin typeface="Times New Roman"/>
                <a:ea typeface="Times New Roman"/>
                <a:cs typeface="Times New Roman"/>
                <a:sym typeface="Times New Roman"/>
              </a:rPr>
              <a:t>Conclusion &amp; Future Research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00"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235425" y="1061518"/>
            <a:ext cx="8596800" cy="39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higher education levels were positively associated with stronger economic outcomes and lower poverty rates across regions.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an inverse relationship between tertiary enrollment and poverty, as enrollment increased across regions, poverty rates consistently decreased.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Countries with higher educational attainment showed significantly lower poverty headcount ratios.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positive association between educational attainment and national income, with countries showing nearly identical geographic patterns across both maps.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research should expand the sample size, extend the time period beyond 2020, and explore regional differences within countries.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[2, 3, 4]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46" name="Google Shape;146;p23"/>
          <p:cNvSpPr txBox="1"/>
          <p:nvPr/>
        </p:nvSpPr>
        <p:spPr>
          <a:xfrm>
            <a:off x="8620800" y="0"/>
            <a:ext cx="52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36391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00">
                <a:latin typeface="Times New Roman"/>
                <a:ea typeface="Times New Roman"/>
                <a:cs typeface="Times New Roman"/>
                <a:sym typeface="Times New Roman"/>
              </a:rPr>
              <a:t>Scope and Limitations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11700" y="1233581"/>
            <a:ext cx="8520600" cy="36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study covered 59 countries from 2014 to 2020, findings may not apply to all countries and time periods.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study identified associations, not causation, controlled experiments would be needed to establish direct cause and effect.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data limited country coverage, major countries like China and India were not fully represented.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normalized data to allow for consistent comparison across variables with different scales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factors such as governance, infrastructure, and labor market policy were not fully captured.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53" name="Google Shape;153;p24"/>
          <p:cNvSpPr txBox="1"/>
          <p:nvPr/>
        </p:nvSpPr>
        <p:spPr>
          <a:xfrm>
            <a:off x="8620800" y="0"/>
            <a:ext cx="52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20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5425" rtl="0" algn="ctr">
              <a:lnSpc>
                <a:spcPct val="103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Times New Roman"/>
                <a:ea typeface="Times New Roman"/>
                <a:cs typeface="Times New Roman"/>
                <a:sym typeface="Times New Roman"/>
              </a:rPr>
              <a:t>Implications and Recommendations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5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211200" y="1160981"/>
            <a:ext cx="8721600" cy="38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Governments should treat education spending as a long-term investment, higher spending was linked to stronger GDP growth and lower poverty.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Policymakers should expand access to tertiary education, especially in lower-income countries where enrollment remained low.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pupil-teacher ratios through teacher hiring and training can improve both education quality and economic outcomes.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organizations should direct education funding toward high-poverty, low-enrollment countries to address inequality.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Businesses and managers should invest in workforce education and training to improve productivity and drive economic growth.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8620800" y="0"/>
            <a:ext cx="52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/>
        </p:nvSpPr>
        <p:spPr>
          <a:xfrm>
            <a:off x="123850" y="952203"/>
            <a:ext cx="8915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Raghupathi, V., &amp; Raghupathi, W. (2020). The influence of education on health: An empirical assessment of OECD countries for the period 1995–2015. Archives of Public Health, 78(20). </a:t>
            </a:r>
            <a:r>
              <a:rPr lang="en" u="sng">
                <a:solidFill>
                  <a:srgbClr val="0097A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https://doi.org/10.1186/s13690-020-00402-5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Sultana, T., Dey, S. R., &amp; Tareque, M. (2022). Exploring the linkage between human capital and economic growth: A look at 141 developing and developed countries. Economic Systems, 46(3), 101017. </a:t>
            </a:r>
            <a:r>
              <a:rPr lang="en" u="sng">
                <a:solidFill>
                  <a:srgbClr val="0097A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https://doi.org/10.1016/j.ecosys.2022.101017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Hanushek, E. A. (2013). Economic growth in developing countries: The role of human capital. Stanford University. </a:t>
            </a:r>
            <a:r>
              <a:rPr lang="en" u="sng">
                <a:solidFill>
                  <a:srgbClr val="0097A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https://hanushek.stanford.edu/sites/default/files/publications/Education%20and%20Economic%20Growth.pdf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Qi, D. (2022). Higher education investment and economic growth: Evidence from global data. Frontiers in Psychology, 13. </a:t>
            </a:r>
            <a:r>
              <a:rPr lang="en" u="sng">
                <a:solidFill>
                  <a:srgbClr val="0097A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https://doi.org/10.3389/fpsyg.2022.959026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Bah, Ibrahim Abubakarr.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Relationship Between Education and Economic Growth: A Cross-Country Analysis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.”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Research, Society and Development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12, no. 5, 2023, article e19312540522. </a:t>
            </a:r>
            <a:r>
              <a:rPr lang="en" u="sng">
                <a:solidFill>
                  <a:srgbClr val="0097A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https://doi.org/10.33448/rsd-v12i5.40522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McMahon, Walter W.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Contribution of Education to Economic Growth.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Knowledge, Evidence and Learning for Development (K4D), UK Department for International Development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2018. </a:t>
            </a:r>
            <a:r>
              <a:rPr lang="en" u="sng">
                <a:solidFill>
                  <a:srgbClr val="0097A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https://assets.publishing.service.gov.uk/media/5b9b87f340f0b67896977bae/K4D_HDR_The_Contribution_of_Education_to_Economic_Growth_Final.pdf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311700" y="170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2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8620800" y="0"/>
            <a:ext cx="523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