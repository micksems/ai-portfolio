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8229600" cx="14630400"/>
  <p:notesSz cx="8229600" cy="14630400"/>
  <p:embeddedFontLst>
    <p:embeddedFont>
      <p:font typeface="Corben"/>
      <p:regular r:id="rId16"/>
      <p:bold r:id="rId17"/>
    </p:embeddedFont>
    <p:embeddedFont>
      <p:font typeface="Nobile"/>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akjgVxROzSDEn9vQ1u3WSZA3A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bile-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Nobile-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orben-bold.fntdata"/><Relationship Id="rId16" Type="http://schemas.openxmlformats.org/officeDocument/2006/relationships/font" Target="fonts/Corben-regular.fntdata"/><Relationship Id="rId5" Type="http://schemas.openxmlformats.org/officeDocument/2006/relationships/slide" Target="slides/slide1.xml"/><Relationship Id="rId19" Type="http://schemas.openxmlformats.org/officeDocument/2006/relationships/font" Target="fonts/Nobile-bold.fntdata"/><Relationship Id="rId6" Type="http://schemas.openxmlformats.org/officeDocument/2006/relationships/slide" Target="slides/slide2.xml"/><Relationship Id="rId18" Type="http://schemas.openxmlformats.org/officeDocument/2006/relationships/font" Target="fonts/Nobile-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4" name="Google Shape;5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4" name="Google Shape;6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5" name="Google Shape;8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4" name="Google Shape;10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2" name="Google Shape;12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2" name="Google Shape;13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3" name="Google Shape;14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7" name="Google Shape;16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8" name="Google Shape;17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0" name="Google Shape;19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3" name="Google Shape;21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pic>
        <p:nvPicPr>
          <p:cNvPr descr="preencoded.png" id="7" name="Google Shape;7;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8" name="Google Shape;8;p13"/>
          <p:cNvSpPr/>
          <p:nvPr/>
        </p:nvSpPr>
        <p:spPr>
          <a:xfrm>
            <a:off x="0" y="0"/>
            <a:ext cx="14630400" cy="8229600"/>
          </a:xfrm>
          <a:prstGeom prst="rect">
            <a:avLst/>
          </a:prstGeom>
          <a:solidFill>
            <a:srgbClr val="F9F9FF">
              <a:alpha val="9490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 name="Google Shape;9;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 name="Shape 10"/>
        <p:cNvGrpSpPr/>
        <p:nvPr/>
      </p:nvGrpSpPr>
      <p:grpSpPr>
        <a:xfrm>
          <a:off x="0" y="0"/>
          <a:ext cx="0" cy="0"/>
          <a:chOff x="0" y="0"/>
          <a:chExt cx="0" cy="0"/>
        </a:xfrm>
      </p:grpSpPr>
      <p:pic>
        <p:nvPicPr>
          <p:cNvPr descr="preencoded.png" id="11" name="Google Shape;11;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4"/>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4" name="Shape 14"/>
        <p:cNvGrpSpPr/>
        <p:nvPr/>
      </p:nvGrpSpPr>
      <p:grpSpPr>
        <a:xfrm>
          <a:off x="0" y="0"/>
          <a:ext cx="0" cy="0"/>
          <a:chOff x="0" y="0"/>
          <a:chExt cx="0" cy="0"/>
        </a:xfrm>
      </p:grpSpPr>
      <p:pic>
        <p:nvPicPr>
          <p:cNvPr descr="preencoded.png" id="15" name="Google Shape;15;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15"/>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8" name="Shape 18"/>
        <p:cNvGrpSpPr/>
        <p:nvPr/>
      </p:nvGrpSpPr>
      <p:grpSpPr>
        <a:xfrm>
          <a:off x="0" y="0"/>
          <a:ext cx="0" cy="0"/>
          <a:chOff x="0" y="0"/>
          <a:chExt cx="0" cy="0"/>
        </a:xfrm>
      </p:grpSpPr>
      <p:pic>
        <p:nvPicPr>
          <p:cNvPr descr="preencoded.png" id="19" name="Google Shape;19;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16"/>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pic>
        <p:nvPicPr>
          <p:cNvPr descr="preencoded.png" id="23" name="Google Shape;23;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17"/>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6" name="Shape 26"/>
        <p:cNvGrpSpPr/>
        <p:nvPr/>
      </p:nvGrpSpPr>
      <p:grpSpPr>
        <a:xfrm>
          <a:off x="0" y="0"/>
          <a:ext cx="0" cy="0"/>
          <a:chOff x="0" y="0"/>
          <a:chExt cx="0" cy="0"/>
        </a:xfrm>
      </p:grpSpPr>
      <p:pic>
        <p:nvPicPr>
          <p:cNvPr descr="preencoded.png" id="27" name="Google Shape;27;p1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18"/>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0" name="Shape 30"/>
        <p:cNvGrpSpPr/>
        <p:nvPr/>
      </p:nvGrpSpPr>
      <p:grpSpPr>
        <a:xfrm>
          <a:off x="0" y="0"/>
          <a:ext cx="0" cy="0"/>
          <a:chOff x="0" y="0"/>
          <a:chExt cx="0" cy="0"/>
        </a:xfrm>
      </p:grpSpPr>
      <p:pic>
        <p:nvPicPr>
          <p:cNvPr descr="preencoded.png" id="31" name="Google Shape;31;p1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19"/>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4" name="Shape 34"/>
        <p:cNvGrpSpPr/>
        <p:nvPr/>
      </p:nvGrpSpPr>
      <p:grpSpPr>
        <a:xfrm>
          <a:off x="0" y="0"/>
          <a:ext cx="0" cy="0"/>
          <a:chOff x="0" y="0"/>
          <a:chExt cx="0" cy="0"/>
        </a:xfrm>
      </p:grpSpPr>
      <p:pic>
        <p:nvPicPr>
          <p:cNvPr descr="preencoded.png" id="35" name="Google Shape;35;p2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20"/>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8" name="Shape 38"/>
        <p:cNvGrpSpPr/>
        <p:nvPr/>
      </p:nvGrpSpPr>
      <p:grpSpPr>
        <a:xfrm>
          <a:off x="0" y="0"/>
          <a:ext cx="0" cy="0"/>
          <a:chOff x="0" y="0"/>
          <a:chExt cx="0" cy="0"/>
        </a:xfrm>
      </p:grpSpPr>
      <p:pic>
        <p:nvPicPr>
          <p:cNvPr descr="preencoded.png" id="39" name="Google Shape;39;p2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21"/>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2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2" name="Shape 42"/>
        <p:cNvGrpSpPr/>
        <p:nvPr/>
      </p:nvGrpSpPr>
      <p:grpSpPr>
        <a:xfrm>
          <a:off x="0" y="0"/>
          <a:ext cx="0" cy="0"/>
          <a:chOff x="0" y="0"/>
          <a:chExt cx="0" cy="0"/>
        </a:xfrm>
      </p:grpSpPr>
      <p:pic>
        <p:nvPicPr>
          <p:cNvPr descr="preencoded.png" id="43" name="Google Shape;43;p2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22"/>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6" name="Shape 46"/>
        <p:cNvGrpSpPr/>
        <p:nvPr/>
      </p:nvGrpSpPr>
      <p:grpSpPr>
        <a:xfrm>
          <a:off x="0" y="0"/>
          <a:ext cx="0" cy="0"/>
          <a:chOff x="0" y="0"/>
          <a:chExt cx="0" cy="0"/>
        </a:xfrm>
      </p:grpSpPr>
      <p:pic>
        <p:nvPicPr>
          <p:cNvPr descr="preencoded.png" id="47" name="Google Shape;47;p2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23"/>
          <p:cNvSpPr/>
          <p:nvPr/>
        </p:nvSpPr>
        <p:spPr>
          <a:xfrm>
            <a:off x="0" y="0"/>
            <a:ext cx="14630400" cy="8229600"/>
          </a:xfrm>
          <a:prstGeom prst="rect">
            <a:avLst/>
          </a:prstGeom>
          <a:solidFill>
            <a:srgbClr val="F9F9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7" name="Google Shape;57;p1"/>
          <p:cNvSpPr/>
          <p:nvPr/>
        </p:nvSpPr>
        <p:spPr>
          <a:xfrm>
            <a:off x="6280190" y="2745462"/>
            <a:ext cx="7556421" cy="1417558"/>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Predicting Chaos: When Data Meets March Madness</a:t>
            </a:r>
            <a:endParaRPr sz="4450">
              <a:solidFill>
                <a:schemeClr val="dk1"/>
              </a:solidFill>
              <a:latin typeface="Calibri"/>
              <a:ea typeface="Calibri"/>
              <a:cs typeface="Calibri"/>
              <a:sym typeface="Calibri"/>
            </a:endParaRPr>
          </a:p>
        </p:txBody>
      </p:sp>
      <p:sp>
        <p:nvSpPr>
          <p:cNvPr id="58" name="Google Shape;58;p1"/>
          <p:cNvSpPr/>
          <p:nvPr/>
        </p:nvSpPr>
        <p:spPr>
          <a:xfrm>
            <a:off x="6280190" y="4503182"/>
            <a:ext cx="75564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b="1" lang="en-US" sz="1750">
                <a:solidFill>
                  <a:srgbClr val="404155"/>
                </a:solidFill>
                <a:latin typeface="Nobile"/>
                <a:ea typeface="Nobile"/>
                <a:cs typeface="Nobile"/>
                <a:sym typeface="Nobile"/>
              </a:rPr>
              <a:t>Team MJMH </a:t>
            </a:r>
            <a:endParaRPr sz="1750">
              <a:solidFill>
                <a:schemeClr val="dk1"/>
              </a:solidFill>
              <a:latin typeface="Calibri"/>
              <a:ea typeface="Calibri"/>
              <a:cs typeface="Calibri"/>
              <a:sym typeface="Calibri"/>
            </a:endParaRPr>
          </a:p>
        </p:txBody>
      </p:sp>
      <p:sp>
        <p:nvSpPr>
          <p:cNvPr id="59" name="Google Shape;59;p1"/>
          <p:cNvSpPr/>
          <p:nvPr/>
        </p:nvSpPr>
        <p:spPr>
          <a:xfrm>
            <a:off x="6280190" y="5121235"/>
            <a:ext cx="75564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(Misha Semenov, Michael Promisel, Hema Bobba, Jeralene J Maria)</a:t>
            </a:r>
            <a:endParaRPr sz="1750">
              <a:solidFill>
                <a:schemeClr val="dk1"/>
              </a:solidFill>
              <a:latin typeface="Calibri"/>
              <a:ea typeface="Calibri"/>
              <a:cs typeface="Calibri"/>
              <a:sym typeface="Calibri"/>
            </a:endParaRPr>
          </a:p>
        </p:txBody>
      </p:sp>
      <p:sp>
        <p:nvSpPr>
          <p:cNvPr id="60" name="Google Shape;60;p1"/>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p:nvPr/>
        </p:nvSpPr>
        <p:spPr>
          <a:xfrm>
            <a:off x="4571286" y="636389"/>
            <a:ext cx="5487710" cy="685919"/>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1B1B27"/>
              </a:buClr>
              <a:buSzPts val="4300"/>
              <a:buFont typeface="Corben"/>
              <a:buNone/>
            </a:pPr>
            <a:r>
              <a:rPr lang="en-US" sz="4300">
                <a:solidFill>
                  <a:srgbClr val="1B1B27"/>
                </a:solidFill>
                <a:latin typeface="Corben"/>
                <a:ea typeface="Corben"/>
                <a:cs typeface="Corben"/>
                <a:sym typeface="Corben"/>
              </a:rPr>
              <a:t>Our Foundation: </a:t>
            </a:r>
            <a:endParaRPr sz="4300">
              <a:solidFill>
                <a:schemeClr val="dk1"/>
              </a:solidFill>
              <a:latin typeface="Calibri"/>
              <a:ea typeface="Calibri"/>
              <a:cs typeface="Calibri"/>
              <a:sym typeface="Calibri"/>
            </a:endParaRPr>
          </a:p>
        </p:txBody>
      </p:sp>
      <p:sp>
        <p:nvSpPr>
          <p:cNvPr id="67" name="Google Shape;67;p2"/>
          <p:cNvSpPr/>
          <p:nvPr/>
        </p:nvSpPr>
        <p:spPr>
          <a:xfrm>
            <a:off x="1638300" y="1407200"/>
            <a:ext cx="11353800" cy="685919"/>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1B1B27"/>
              </a:buClr>
              <a:buSzPts val="4300"/>
              <a:buFont typeface="Corben"/>
              <a:buNone/>
            </a:pPr>
            <a:r>
              <a:rPr lang="en-US" sz="4300">
                <a:solidFill>
                  <a:srgbClr val="1B1B27"/>
                </a:solidFill>
                <a:latin typeface="Corben"/>
                <a:ea typeface="Corben"/>
                <a:cs typeface="Corben"/>
                <a:sym typeface="Corben"/>
              </a:rPr>
              <a:t>A Probability-First Machine Learning Model</a:t>
            </a:r>
            <a:endParaRPr sz="4300">
              <a:solidFill>
                <a:schemeClr val="dk1"/>
              </a:solidFill>
              <a:latin typeface="Calibri"/>
              <a:ea typeface="Calibri"/>
              <a:cs typeface="Calibri"/>
              <a:sym typeface="Calibri"/>
            </a:endParaRPr>
          </a:p>
        </p:txBody>
      </p:sp>
      <p:pic>
        <p:nvPicPr>
          <p:cNvPr descr="preencoded.png" id="68" name="Google Shape;68;p2"/>
          <p:cNvPicPr preferRelativeResize="0"/>
          <p:nvPr/>
        </p:nvPicPr>
        <p:blipFill rotWithShape="1">
          <a:blip r:embed="rId3">
            <a:alphaModFix/>
          </a:blip>
          <a:srcRect b="0" l="0" r="0" t="0"/>
          <a:stretch/>
        </p:blipFill>
        <p:spPr>
          <a:xfrm>
            <a:off x="768191" y="2411730"/>
            <a:ext cx="6547009" cy="877967"/>
          </a:xfrm>
          <a:prstGeom prst="rect">
            <a:avLst/>
          </a:prstGeom>
          <a:noFill/>
          <a:ln>
            <a:noFill/>
          </a:ln>
        </p:spPr>
      </p:pic>
      <p:sp>
        <p:nvSpPr>
          <p:cNvPr id="69" name="Google Shape;69;p2"/>
          <p:cNvSpPr/>
          <p:nvPr/>
        </p:nvSpPr>
        <p:spPr>
          <a:xfrm>
            <a:off x="987623" y="3502104"/>
            <a:ext cx="2867382" cy="3430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404155"/>
              </a:buClr>
              <a:buSzPts val="2150"/>
              <a:buFont typeface="Corben"/>
              <a:buNone/>
            </a:pPr>
            <a:r>
              <a:rPr lang="en-US" sz="2150">
                <a:solidFill>
                  <a:srgbClr val="404155"/>
                </a:solidFill>
                <a:latin typeface="Corben"/>
                <a:ea typeface="Corben"/>
                <a:cs typeface="Corben"/>
                <a:sym typeface="Corben"/>
              </a:rPr>
              <a:t>Historical NCAA Data</a:t>
            </a:r>
            <a:endParaRPr sz="2150">
              <a:solidFill>
                <a:schemeClr val="dk1"/>
              </a:solidFill>
              <a:latin typeface="Calibri"/>
              <a:ea typeface="Calibri"/>
              <a:cs typeface="Calibri"/>
              <a:sym typeface="Calibri"/>
            </a:endParaRPr>
          </a:p>
        </p:txBody>
      </p:sp>
      <p:sp>
        <p:nvSpPr>
          <p:cNvPr id="70" name="Google Shape;70;p2"/>
          <p:cNvSpPr/>
          <p:nvPr/>
        </p:nvSpPr>
        <p:spPr>
          <a:xfrm>
            <a:off x="987623" y="3972520"/>
            <a:ext cx="6108144" cy="34551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404155"/>
              </a:buClr>
              <a:buSzPts val="1700"/>
              <a:buFont typeface="Nobile"/>
              <a:buNone/>
            </a:pPr>
            <a:r>
              <a:rPr lang="en-US" sz="1700">
                <a:solidFill>
                  <a:srgbClr val="404155"/>
                </a:solidFill>
                <a:latin typeface="Nobile"/>
                <a:ea typeface="Nobile"/>
                <a:cs typeface="Nobile"/>
                <a:sym typeface="Nobile"/>
              </a:rPr>
              <a:t>Tournament matchups, team stats, seeds</a:t>
            </a:r>
            <a:endParaRPr sz="1700">
              <a:solidFill>
                <a:schemeClr val="dk1"/>
              </a:solidFill>
              <a:latin typeface="Calibri"/>
              <a:ea typeface="Calibri"/>
              <a:cs typeface="Calibri"/>
              <a:sym typeface="Calibri"/>
            </a:endParaRPr>
          </a:p>
        </p:txBody>
      </p:sp>
      <p:pic>
        <p:nvPicPr>
          <p:cNvPr descr="preencoded.png" id="71" name="Google Shape;71;p2"/>
          <p:cNvPicPr preferRelativeResize="0"/>
          <p:nvPr/>
        </p:nvPicPr>
        <p:blipFill rotWithShape="1">
          <a:blip r:embed="rId4">
            <a:alphaModFix/>
          </a:blip>
          <a:srcRect b="0" l="0" r="0" t="0"/>
          <a:stretch/>
        </p:blipFill>
        <p:spPr>
          <a:xfrm>
            <a:off x="7315200" y="2411730"/>
            <a:ext cx="6547009" cy="877967"/>
          </a:xfrm>
          <a:prstGeom prst="rect">
            <a:avLst/>
          </a:prstGeom>
          <a:noFill/>
          <a:ln>
            <a:noFill/>
          </a:ln>
        </p:spPr>
      </p:pic>
      <p:sp>
        <p:nvSpPr>
          <p:cNvPr id="72" name="Google Shape;72;p2"/>
          <p:cNvSpPr/>
          <p:nvPr/>
        </p:nvSpPr>
        <p:spPr>
          <a:xfrm>
            <a:off x="7534632" y="3502104"/>
            <a:ext cx="3373636" cy="3430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404155"/>
              </a:buClr>
              <a:buSzPts val="2150"/>
              <a:buFont typeface="Corben"/>
              <a:buNone/>
            </a:pPr>
            <a:r>
              <a:rPr lang="en-US" sz="2150">
                <a:solidFill>
                  <a:srgbClr val="404155"/>
                </a:solidFill>
                <a:latin typeface="Corben"/>
                <a:ea typeface="Corben"/>
                <a:cs typeface="Corben"/>
                <a:sym typeface="Corben"/>
              </a:rPr>
              <a:t>Classification Framework</a:t>
            </a:r>
            <a:endParaRPr sz="2150">
              <a:solidFill>
                <a:schemeClr val="dk1"/>
              </a:solidFill>
              <a:latin typeface="Calibri"/>
              <a:ea typeface="Calibri"/>
              <a:cs typeface="Calibri"/>
              <a:sym typeface="Calibri"/>
            </a:endParaRPr>
          </a:p>
        </p:txBody>
      </p:sp>
      <p:sp>
        <p:nvSpPr>
          <p:cNvPr id="73" name="Google Shape;73;p2"/>
          <p:cNvSpPr/>
          <p:nvPr/>
        </p:nvSpPr>
        <p:spPr>
          <a:xfrm>
            <a:off x="7534632" y="3972520"/>
            <a:ext cx="6108144" cy="34551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404155"/>
              </a:buClr>
              <a:buSzPts val="1700"/>
              <a:buFont typeface="Nobile"/>
              <a:buNone/>
            </a:pPr>
            <a:r>
              <a:rPr lang="en-US" sz="1700">
                <a:solidFill>
                  <a:srgbClr val="404155"/>
                </a:solidFill>
                <a:latin typeface="Nobile"/>
                <a:ea typeface="Nobile"/>
                <a:cs typeface="Nobile"/>
                <a:sym typeface="Nobile"/>
              </a:rPr>
              <a:t>Win probability estimation</a:t>
            </a:r>
            <a:endParaRPr sz="1700">
              <a:solidFill>
                <a:schemeClr val="dk1"/>
              </a:solidFill>
              <a:latin typeface="Calibri"/>
              <a:ea typeface="Calibri"/>
              <a:cs typeface="Calibri"/>
              <a:sym typeface="Calibri"/>
            </a:endParaRPr>
          </a:p>
        </p:txBody>
      </p:sp>
      <p:pic>
        <p:nvPicPr>
          <p:cNvPr descr="preencoded.png" id="74" name="Google Shape;74;p2"/>
          <p:cNvPicPr preferRelativeResize="0"/>
          <p:nvPr/>
        </p:nvPicPr>
        <p:blipFill rotWithShape="1">
          <a:blip r:embed="rId5">
            <a:alphaModFix/>
          </a:blip>
          <a:srcRect b="0" l="0" r="0" t="0"/>
          <a:stretch/>
        </p:blipFill>
        <p:spPr>
          <a:xfrm>
            <a:off x="768191" y="4537472"/>
            <a:ext cx="6547009" cy="877967"/>
          </a:xfrm>
          <a:prstGeom prst="rect">
            <a:avLst/>
          </a:prstGeom>
          <a:noFill/>
          <a:ln>
            <a:noFill/>
          </a:ln>
        </p:spPr>
      </p:pic>
      <p:sp>
        <p:nvSpPr>
          <p:cNvPr id="75" name="Google Shape;75;p2"/>
          <p:cNvSpPr/>
          <p:nvPr/>
        </p:nvSpPr>
        <p:spPr>
          <a:xfrm>
            <a:off x="987623" y="5627846"/>
            <a:ext cx="2937867" cy="3430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404155"/>
              </a:buClr>
              <a:buSzPts val="2150"/>
              <a:buFont typeface="Corben"/>
              <a:buNone/>
            </a:pPr>
            <a:r>
              <a:rPr lang="en-US" sz="2150">
                <a:solidFill>
                  <a:srgbClr val="404155"/>
                </a:solidFill>
                <a:latin typeface="Corben"/>
                <a:ea typeface="Corben"/>
                <a:cs typeface="Corben"/>
                <a:sym typeface="Corben"/>
              </a:rPr>
              <a:t>Log Loss Optimization</a:t>
            </a:r>
            <a:endParaRPr sz="2150">
              <a:solidFill>
                <a:schemeClr val="dk1"/>
              </a:solidFill>
              <a:latin typeface="Calibri"/>
              <a:ea typeface="Calibri"/>
              <a:cs typeface="Calibri"/>
              <a:sym typeface="Calibri"/>
            </a:endParaRPr>
          </a:p>
        </p:txBody>
      </p:sp>
      <p:sp>
        <p:nvSpPr>
          <p:cNvPr id="76" name="Google Shape;76;p2"/>
          <p:cNvSpPr/>
          <p:nvPr/>
        </p:nvSpPr>
        <p:spPr>
          <a:xfrm>
            <a:off x="987623" y="6098262"/>
            <a:ext cx="6108144" cy="34551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404155"/>
              </a:buClr>
              <a:buSzPts val="1700"/>
              <a:buFont typeface="Nobile"/>
              <a:buNone/>
            </a:pPr>
            <a:r>
              <a:rPr lang="en-US" sz="1700">
                <a:solidFill>
                  <a:srgbClr val="404155"/>
                </a:solidFill>
                <a:latin typeface="Nobile"/>
                <a:ea typeface="Nobile"/>
                <a:cs typeface="Nobile"/>
                <a:sym typeface="Nobile"/>
              </a:rPr>
              <a:t>Calibrated probabilities, penalizing overconfidence</a:t>
            </a:r>
            <a:endParaRPr sz="1700">
              <a:solidFill>
                <a:schemeClr val="dk1"/>
              </a:solidFill>
              <a:latin typeface="Calibri"/>
              <a:ea typeface="Calibri"/>
              <a:cs typeface="Calibri"/>
              <a:sym typeface="Calibri"/>
            </a:endParaRPr>
          </a:p>
        </p:txBody>
      </p:sp>
      <p:pic>
        <p:nvPicPr>
          <p:cNvPr descr="preencoded.png" id="77" name="Google Shape;77;p2"/>
          <p:cNvPicPr preferRelativeResize="0"/>
          <p:nvPr/>
        </p:nvPicPr>
        <p:blipFill rotWithShape="1">
          <a:blip r:embed="rId6">
            <a:alphaModFix/>
          </a:blip>
          <a:srcRect b="0" l="0" r="0" t="0"/>
          <a:stretch/>
        </p:blipFill>
        <p:spPr>
          <a:xfrm>
            <a:off x="7315200" y="4537472"/>
            <a:ext cx="6547009" cy="877967"/>
          </a:xfrm>
          <a:prstGeom prst="rect">
            <a:avLst/>
          </a:prstGeom>
          <a:noFill/>
          <a:ln>
            <a:noFill/>
          </a:ln>
        </p:spPr>
      </p:pic>
      <p:sp>
        <p:nvSpPr>
          <p:cNvPr id="78" name="Google Shape;78;p2"/>
          <p:cNvSpPr/>
          <p:nvPr/>
        </p:nvSpPr>
        <p:spPr>
          <a:xfrm>
            <a:off x="7534632" y="5627846"/>
            <a:ext cx="2743795" cy="3430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404155"/>
              </a:buClr>
              <a:buSzPts val="2150"/>
              <a:buFont typeface="Corben"/>
              <a:buNone/>
            </a:pPr>
            <a:r>
              <a:rPr lang="en-US" sz="2150">
                <a:solidFill>
                  <a:srgbClr val="404155"/>
                </a:solidFill>
                <a:latin typeface="Corben"/>
                <a:ea typeface="Corben"/>
                <a:cs typeface="Corben"/>
                <a:sym typeface="Corben"/>
              </a:rPr>
              <a:t>Matchup Features</a:t>
            </a:r>
            <a:endParaRPr sz="2150">
              <a:solidFill>
                <a:schemeClr val="dk1"/>
              </a:solidFill>
              <a:latin typeface="Calibri"/>
              <a:ea typeface="Calibri"/>
              <a:cs typeface="Calibri"/>
              <a:sym typeface="Calibri"/>
            </a:endParaRPr>
          </a:p>
        </p:txBody>
      </p:sp>
      <p:sp>
        <p:nvSpPr>
          <p:cNvPr id="79" name="Google Shape;79;p2"/>
          <p:cNvSpPr/>
          <p:nvPr/>
        </p:nvSpPr>
        <p:spPr>
          <a:xfrm>
            <a:off x="7534632" y="6098262"/>
            <a:ext cx="6108144" cy="34551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404155"/>
              </a:buClr>
              <a:buSzPts val="1700"/>
              <a:buFont typeface="Nobile"/>
              <a:buNone/>
            </a:pPr>
            <a:r>
              <a:rPr lang="en-US" sz="1700">
                <a:solidFill>
                  <a:srgbClr val="404155"/>
                </a:solidFill>
                <a:latin typeface="Nobile"/>
                <a:ea typeface="Nobile"/>
                <a:cs typeface="Nobile"/>
                <a:sym typeface="Nobile"/>
              </a:rPr>
              <a:t>Seed diff, tempo, shooting, defense</a:t>
            </a:r>
            <a:endParaRPr sz="1700">
              <a:solidFill>
                <a:schemeClr val="dk1"/>
              </a:solidFill>
              <a:latin typeface="Calibri"/>
              <a:ea typeface="Calibri"/>
              <a:cs typeface="Calibri"/>
              <a:sym typeface="Calibri"/>
            </a:endParaRPr>
          </a:p>
        </p:txBody>
      </p:sp>
      <p:sp>
        <p:nvSpPr>
          <p:cNvPr id="80" name="Google Shape;80;p2"/>
          <p:cNvSpPr/>
          <p:nvPr/>
        </p:nvSpPr>
        <p:spPr>
          <a:xfrm>
            <a:off x="768191" y="6902172"/>
            <a:ext cx="13094018" cy="691039"/>
          </a:xfrm>
          <a:prstGeom prst="rect">
            <a:avLst/>
          </a:prstGeom>
          <a:noFill/>
          <a:ln>
            <a:noFill/>
          </a:ln>
        </p:spPr>
        <p:txBody>
          <a:bodyPr anchorCtr="0" anchor="t" bIns="0" lIns="0" spcFirstLastPara="1" rIns="0" wrap="square" tIns="0">
            <a:noAutofit/>
          </a:bodyPr>
          <a:lstStyle/>
          <a:p>
            <a:pPr indent="0" lvl="0" marL="0" marR="0" rtl="0" algn="ctr">
              <a:lnSpc>
                <a:spcPct val="158823"/>
              </a:lnSpc>
              <a:spcBef>
                <a:spcPts val="0"/>
              </a:spcBef>
              <a:spcAft>
                <a:spcPts val="0"/>
              </a:spcAft>
              <a:buClr>
                <a:srgbClr val="404155"/>
              </a:buClr>
              <a:buSzPts val="1700"/>
              <a:buFont typeface="Nobile"/>
              <a:buNone/>
            </a:pPr>
            <a:r>
              <a:rPr lang="en-US" sz="1700">
                <a:solidFill>
                  <a:srgbClr val="404155"/>
                </a:solidFill>
                <a:latin typeface="Nobile"/>
                <a:ea typeface="Nobile"/>
                <a:cs typeface="Nobile"/>
                <a:sym typeface="Nobile"/>
              </a:rPr>
              <a:t>We built a traditional ML classification model using historical tournament data and matchup-based features as the first step in making predictions.</a:t>
            </a:r>
            <a:endParaRPr sz="1700">
              <a:solidFill>
                <a:schemeClr val="dk1"/>
              </a:solidFill>
              <a:latin typeface="Calibri"/>
              <a:ea typeface="Calibri"/>
              <a:cs typeface="Calibri"/>
              <a:sym typeface="Calibri"/>
            </a:endParaRPr>
          </a:p>
        </p:txBody>
      </p:sp>
      <p:sp>
        <p:nvSpPr>
          <p:cNvPr id="81" name="Google Shape;81;p2"/>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p:nvPr/>
        </p:nvSpPr>
        <p:spPr>
          <a:xfrm>
            <a:off x="3114199" y="1240036"/>
            <a:ext cx="8402003"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What the Base Model Measured</a:t>
            </a:r>
            <a:endParaRPr sz="4450">
              <a:solidFill>
                <a:schemeClr val="dk1"/>
              </a:solidFill>
              <a:latin typeface="Calibri"/>
              <a:ea typeface="Calibri"/>
              <a:cs typeface="Calibri"/>
              <a:sym typeface="Calibri"/>
            </a:endParaRPr>
          </a:p>
        </p:txBody>
      </p:sp>
      <p:pic>
        <p:nvPicPr>
          <p:cNvPr descr="preencoded.png" id="88" name="Google Shape;88;p3"/>
          <p:cNvPicPr preferRelativeResize="0"/>
          <p:nvPr/>
        </p:nvPicPr>
        <p:blipFill rotWithShape="1">
          <a:blip r:embed="rId3">
            <a:alphaModFix/>
          </a:blip>
          <a:srcRect b="0" l="0" r="0" t="0"/>
          <a:stretch/>
        </p:blipFill>
        <p:spPr>
          <a:xfrm>
            <a:off x="793790" y="2402443"/>
            <a:ext cx="566976" cy="566976"/>
          </a:xfrm>
          <a:prstGeom prst="rect">
            <a:avLst/>
          </a:prstGeom>
          <a:noFill/>
          <a:ln>
            <a:noFill/>
          </a:ln>
        </p:spPr>
      </p:pic>
      <p:sp>
        <p:nvSpPr>
          <p:cNvPr id="89" name="Google Shape;89;p3"/>
          <p:cNvSpPr/>
          <p:nvPr/>
        </p:nvSpPr>
        <p:spPr>
          <a:xfrm>
            <a:off x="793790" y="32529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Seed &amp; Context</a:t>
            </a:r>
            <a:endParaRPr sz="2200">
              <a:solidFill>
                <a:schemeClr val="dk1"/>
              </a:solidFill>
              <a:latin typeface="Calibri"/>
              <a:ea typeface="Calibri"/>
              <a:cs typeface="Calibri"/>
              <a:sym typeface="Calibri"/>
            </a:endParaRPr>
          </a:p>
        </p:txBody>
      </p:sp>
      <p:sp>
        <p:nvSpPr>
          <p:cNvPr id="90" name="Google Shape;90;p3"/>
          <p:cNvSpPr/>
          <p:nvPr/>
        </p:nvSpPr>
        <p:spPr>
          <a:xfrm>
            <a:off x="793790" y="3743325"/>
            <a:ext cx="6379607"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Seed difference, location, game importance, neutral-site adjustment</a:t>
            </a:r>
            <a:endParaRPr sz="1750">
              <a:solidFill>
                <a:schemeClr val="dk1"/>
              </a:solidFill>
              <a:latin typeface="Calibri"/>
              <a:ea typeface="Calibri"/>
              <a:cs typeface="Calibri"/>
              <a:sym typeface="Calibri"/>
            </a:endParaRPr>
          </a:p>
        </p:txBody>
      </p:sp>
      <p:pic>
        <p:nvPicPr>
          <p:cNvPr descr="preencoded.png" id="91" name="Google Shape;91;p3"/>
          <p:cNvPicPr preferRelativeResize="0"/>
          <p:nvPr/>
        </p:nvPicPr>
        <p:blipFill rotWithShape="1">
          <a:blip r:embed="rId4">
            <a:alphaModFix/>
          </a:blip>
          <a:srcRect b="0" l="0" r="0" t="0"/>
          <a:stretch/>
        </p:blipFill>
        <p:spPr>
          <a:xfrm>
            <a:off x="7456884" y="2402443"/>
            <a:ext cx="566976" cy="566976"/>
          </a:xfrm>
          <a:prstGeom prst="rect">
            <a:avLst/>
          </a:prstGeom>
          <a:noFill/>
          <a:ln>
            <a:noFill/>
          </a:ln>
        </p:spPr>
      </p:pic>
      <p:sp>
        <p:nvSpPr>
          <p:cNvPr id="92" name="Google Shape;92;p3"/>
          <p:cNvSpPr/>
          <p:nvPr/>
        </p:nvSpPr>
        <p:spPr>
          <a:xfrm>
            <a:off x="7456884" y="32529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Shooting Profile</a:t>
            </a:r>
            <a:endParaRPr sz="2200">
              <a:solidFill>
                <a:schemeClr val="dk1"/>
              </a:solidFill>
              <a:latin typeface="Calibri"/>
              <a:ea typeface="Calibri"/>
              <a:cs typeface="Calibri"/>
              <a:sym typeface="Calibri"/>
            </a:endParaRPr>
          </a:p>
        </p:txBody>
      </p:sp>
      <p:sp>
        <p:nvSpPr>
          <p:cNvPr id="93" name="Google Shape;93;p3"/>
          <p:cNvSpPr/>
          <p:nvPr/>
        </p:nvSpPr>
        <p:spPr>
          <a:xfrm>
            <a:off x="7456884" y="3743325"/>
            <a:ext cx="637972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Effective FG%, three-point rate, free throw accuracy, opponent shooting allowed</a:t>
            </a:r>
            <a:endParaRPr sz="1750">
              <a:solidFill>
                <a:schemeClr val="dk1"/>
              </a:solidFill>
              <a:latin typeface="Calibri"/>
              <a:ea typeface="Calibri"/>
              <a:cs typeface="Calibri"/>
              <a:sym typeface="Calibri"/>
            </a:endParaRPr>
          </a:p>
        </p:txBody>
      </p:sp>
      <p:pic>
        <p:nvPicPr>
          <p:cNvPr descr="preencoded.png" id="94" name="Google Shape;94;p3"/>
          <p:cNvPicPr preferRelativeResize="0"/>
          <p:nvPr/>
        </p:nvPicPr>
        <p:blipFill rotWithShape="1">
          <a:blip r:embed="rId5">
            <a:alphaModFix/>
          </a:blip>
          <a:srcRect b="0" l="0" r="0" t="0"/>
          <a:stretch/>
        </p:blipFill>
        <p:spPr>
          <a:xfrm>
            <a:off x="793790" y="4922758"/>
            <a:ext cx="566976" cy="566976"/>
          </a:xfrm>
          <a:prstGeom prst="rect">
            <a:avLst/>
          </a:prstGeom>
          <a:noFill/>
          <a:ln>
            <a:noFill/>
          </a:ln>
        </p:spPr>
      </p:pic>
      <p:sp>
        <p:nvSpPr>
          <p:cNvPr id="95" name="Google Shape;95;p3"/>
          <p:cNvSpPr/>
          <p:nvPr/>
        </p:nvSpPr>
        <p:spPr>
          <a:xfrm>
            <a:off x="793790" y="577322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Defense &amp; Tempo</a:t>
            </a:r>
            <a:endParaRPr sz="2200">
              <a:solidFill>
                <a:schemeClr val="dk1"/>
              </a:solidFill>
              <a:latin typeface="Calibri"/>
              <a:ea typeface="Calibri"/>
              <a:cs typeface="Calibri"/>
              <a:sym typeface="Calibri"/>
            </a:endParaRPr>
          </a:p>
        </p:txBody>
      </p:sp>
      <p:sp>
        <p:nvSpPr>
          <p:cNvPr id="96" name="Google Shape;96;p3"/>
          <p:cNvSpPr/>
          <p:nvPr/>
        </p:nvSpPr>
        <p:spPr>
          <a:xfrm>
            <a:off x="793790" y="6263640"/>
            <a:ext cx="6379607"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Adjusted offensive/defensive efficiency, tempo difference, pace control</a:t>
            </a:r>
            <a:endParaRPr sz="1750">
              <a:solidFill>
                <a:schemeClr val="dk1"/>
              </a:solidFill>
              <a:latin typeface="Calibri"/>
              <a:ea typeface="Calibri"/>
              <a:cs typeface="Calibri"/>
              <a:sym typeface="Calibri"/>
            </a:endParaRPr>
          </a:p>
        </p:txBody>
      </p:sp>
      <p:pic>
        <p:nvPicPr>
          <p:cNvPr descr="preencoded.png" id="97" name="Google Shape;97;p3"/>
          <p:cNvPicPr preferRelativeResize="0"/>
          <p:nvPr/>
        </p:nvPicPr>
        <p:blipFill rotWithShape="1">
          <a:blip r:embed="rId6">
            <a:alphaModFix/>
          </a:blip>
          <a:srcRect b="0" l="0" r="0" t="0"/>
          <a:stretch/>
        </p:blipFill>
        <p:spPr>
          <a:xfrm>
            <a:off x="7456884" y="4922758"/>
            <a:ext cx="566976" cy="566976"/>
          </a:xfrm>
          <a:prstGeom prst="rect">
            <a:avLst/>
          </a:prstGeom>
          <a:noFill/>
          <a:ln>
            <a:noFill/>
          </a:ln>
        </p:spPr>
      </p:pic>
      <p:sp>
        <p:nvSpPr>
          <p:cNvPr id="98" name="Google Shape;98;p3"/>
          <p:cNvSpPr/>
          <p:nvPr/>
        </p:nvSpPr>
        <p:spPr>
          <a:xfrm>
            <a:off x="7456884" y="5773222"/>
            <a:ext cx="289440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Playmaking &amp; Impact</a:t>
            </a:r>
            <a:endParaRPr sz="2200">
              <a:solidFill>
                <a:schemeClr val="dk1"/>
              </a:solidFill>
              <a:latin typeface="Calibri"/>
              <a:ea typeface="Calibri"/>
              <a:cs typeface="Calibri"/>
              <a:sym typeface="Calibri"/>
            </a:endParaRPr>
          </a:p>
        </p:txBody>
      </p:sp>
      <p:sp>
        <p:nvSpPr>
          <p:cNvPr id="99" name="Google Shape;99;p3"/>
          <p:cNvSpPr/>
          <p:nvPr/>
        </p:nvSpPr>
        <p:spPr>
          <a:xfrm>
            <a:off x="7456884" y="6263640"/>
            <a:ext cx="637972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Assist differentials, steal rates, block rates, turnover margins</a:t>
            </a:r>
            <a:endParaRPr sz="1750">
              <a:solidFill>
                <a:schemeClr val="dk1"/>
              </a:solidFill>
              <a:latin typeface="Calibri"/>
              <a:ea typeface="Calibri"/>
              <a:cs typeface="Calibri"/>
              <a:sym typeface="Calibri"/>
            </a:endParaRPr>
          </a:p>
        </p:txBody>
      </p:sp>
      <p:sp>
        <p:nvSpPr>
          <p:cNvPr id="100" name="Google Shape;100;p3"/>
          <p:cNvSpPr/>
          <p:nvPr/>
        </p:nvSpPr>
        <p:spPr>
          <a:xfrm>
            <a:off x="12705347" y="7664116"/>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p:nvPr/>
        </p:nvSpPr>
        <p:spPr>
          <a:xfrm>
            <a:off x="917734" y="631627"/>
            <a:ext cx="12794813" cy="699135"/>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B1B27"/>
              </a:buClr>
              <a:buSzPts val="4400"/>
              <a:buFont typeface="Corben"/>
              <a:buNone/>
            </a:pPr>
            <a:r>
              <a:rPr lang="en-US" sz="4400">
                <a:solidFill>
                  <a:srgbClr val="1B1B27"/>
                </a:solidFill>
                <a:latin typeface="Corben"/>
                <a:ea typeface="Corben"/>
                <a:cs typeface="Corben"/>
                <a:sym typeface="Corben"/>
              </a:rPr>
              <a:t>From "Find Cinderella" to "Find Who Gets Upset"</a:t>
            </a:r>
            <a:endParaRPr sz="4400">
              <a:solidFill>
                <a:schemeClr val="dk1"/>
              </a:solidFill>
              <a:latin typeface="Calibri"/>
              <a:ea typeface="Calibri"/>
              <a:cs typeface="Calibri"/>
              <a:sym typeface="Calibri"/>
            </a:endParaRPr>
          </a:p>
        </p:txBody>
      </p:sp>
      <p:sp>
        <p:nvSpPr>
          <p:cNvPr id="107" name="Google Shape;107;p4"/>
          <p:cNvSpPr/>
          <p:nvPr/>
        </p:nvSpPr>
        <p:spPr>
          <a:xfrm>
            <a:off x="7299960" y="1772007"/>
            <a:ext cx="30480" cy="5222438"/>
          </a:xfrm>
          <a:prstGeom prst="roundRect">
            <a:avLst>
              <a:gd fmla="val 308277" name="adj"/>
            </a:avLst>
          </a:prstGeom>
          <a:solidFill>
            <a:srgbClr val="B8BF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4"/>
          <p:cNvSpPr/>
          <p:nvPr/>
        </p:nvSpPr>
        <p:spPr>
          <a:xfrm>
            <a:off x="752475" y="1772007"/>
            <a:ext cx="6532245" cy="1342311"/>
          </a:xfrm>
          <a:prstGeom prst="roundRect">
            <a:avLst>
              <a:gd fmla="val 7000" name="adj"/>
            </a:avLst>
          </a:prstGeom>
          <a:solidFill>
            <a:srgbClr val="D2D9F9"/>
          </a:solidFill>
          <a:ln cap="flat" cmpd="sng" w="9525">
            <a:solidFill>
              <a:srgbClr val="8888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4"/>
          <p:cNvSpPr/>
          <p:nvPr/>
        </p:nvSpPr>
        <p:spPr>
          <a:xfrm>
            <a:off x="3084314" y="2003346"/>
            <a:ext cx="3976687" cy="349568"/>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First Idea: Predict " Cinderella"</a:t>
            </a:r>
            <a:endParaRPr sz="2200">
              <a:solidFill>
                <a:schemeClr val="dk1"/>
              </a:solidFill>
              <a:latin typeface="Calibri"/>
              <a:ea typeface="Calibri"/>
              <a:cs typeface="Calibri"/>
              <a:sym typeface="Calibri"/>
            </a:endParaRPr>
          </a:p>
        </p:txBody>
      </p:sp>
      <p:sp>
        <p:nvSpPr>
          <p:cNvPr id="110" name="Google Shape;110;p4"/>
          <p:cNvSpPr/>
          <p:nvPr/>
        </p:nvSpPr>
        <p:spPr>
          <a:xfrm>
            <a:off x="983813" y="2485192"/>
            <a:ext cx="6077188" cy="355402"/>
          </a:xfrm>
          <a:prstGeom prst="rect">
            <a:avLst/>
          </a:prstGeom>
          <a:noFill/>
          <a:ln>
            <a:noFill/>
          </a:ln>
        </p:spPr>
        <p:txBody>
          <a:bodyPr anchorCtr="0" anchor="t" bIns="0" lIns="0" spcFirstLastPara="1" rIns="0" wrap="square" tIns="0">
            <a:noAutofit/>
          </a:bodyPr>
          <a:lstStyle/>
          <a:p>
            <a:pPr indent="0" lvl="0" marL="0" marR="0" rtl="0" algn="r">
              <a:lnSpc>
                <a:spcPct val="157142"/>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Try to identify which underdogs will pull off upsets.</a:t>
            </a:r>
            <a:endParaRPr sz="1750">
              <a:solidFill>
                <a:schemeClr val="dk1"/>
              </a:solidFill>
              <a:latin typeface="Calibri"/>
              <a:ea typeface="Calibri"/>
              <a:cs typeface="Calibri"/>
              <a:sym typeface="Calibri"/>
            </a:endParaRPr>
          </a:p>
        </p:txBody>
      </p:sp>
      <p:sp>
        <p:nvSpPr>
          <p:cNvPr id="111" name="Google Shape;111;p4"/>
          <p:cNvSpPr/>
          <p:nvPr/>
        </p:nvSpPr>
        <p:spPr>
          <a:xfrm>
            <a:off x="7345680" y="3555563"/>
            <a:ext cx="6532245" cy="1655326"/>
          </a:xfrm>
          <a:prstGeom prst="rect">
            <a:avLst/>
          </a:prstGeom>
          <a:solidFill>
            <a:srgbClr val="D2D9F9"/>
          </a:solidFill>
          <a:ln cap="flat" cmpd="sng" w="9525">
            <a:solidFill>
              <a:srgbClr val="B8BFD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4"/>
          <p:cNvSpPr/>
          <p:nvPr/>
        </p:nvSpPr>
        <p:spPr>
          <a:xfrm>
            <a:off x="7569398" y="3786902"/>
            <a:ext cx="3915013" cy="3495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Problem: Too Noisy and Broad</a:t>
            </a:r>
            <a:endParaRPr sz="2200">
              <a:solidFill>
                <a:schemeClr val="dk1"/>
              </a:solidFill>
              <a:latin typeface="Calibri"/>
              <a:ea typeface="Calibri"/>
              <a:cs typeface="Calibri"/>
              <a:sym typeface="Calibri"/>
            </a:endParaRPr>
          </a:p>
        </p:txBody>
      </p:sp>
      <p:sp>
        <p:nvSpPr>
          <p:cNvPr id="113" name="Google Shape;113;p4"/>
          <p:cNvSpPr/>
          <p:nvPr/>
        </p:nvSpPr>
        <p:spPr>
          <a:xfrm>
            <a:off x="7569398" y="4268748"/>
            <a:ext cx="6077188" cy="710803"/>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Many teams could be Cinderella and usually they have less data available than the favorites.</a:t>
            </a:r>
            <a:endParaRPr sz="1750">
              <a:solidFill>
                <a:schemeClr val="dk1"/>
              </a:solidFill>
              <a:latin typeface="Calibri"/>
              <a:ea typeface="Calibri"/>
              <a:cs typeface="Calibri"/>
              <a:sym typeface="Calibri"/>
            </a:endParaRPr>
          </a:p>
        </p:txBody>
      </p:sp>
      <p:sp>
        <p:nvSpPr>
          <p:cNvPr id="114" name="Google Shape;114;p4"/>
          <p:cNvSpPr/>
          <p:nvPr/>
        </p:nvSpPr>
        <p:spPr>
          <a:xfrm>
            <a:off x="752475" y="5652135"/>
            <a:ext cx="6532245" cy="1342311"/>
          </a:xfrm>
          <a:prstGeom prst="roundRect">
            <a:avLst>
              <a:gd fmla="val 7000" name="adj"/>
            </a:avLst>
          </a:prstGeom>
          <a:solidFill>
            <a:srgbClr val="D2D9F9"/>
          </a:solidFill>
          <a:ln cap="flat" cmpd="sng" w="9525">
            <a:solidFill>
              <a:srgbClr val="4967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4"/>
          <p:cNvSpPr/>
          <p:nvPr/>
        </p:nvSpPr>
        <p:spPr>
          <a:xfrm>
            <a:off x="1984296" y="5883473"/>
            <a:ext cx="5076706" cy="349568"/>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Reframed: Which Favorites Get Upset?</a:t>
            </a:r>
            <a:endParaRPr sz="2200">
              <a:solidFill>
                <a:schemeClr val="dk1"/>
              </a:solidFill>
              <a:latin typeface="Calibri"/>
              <a:ea typeface="Calibri"/>
              <a:cs typeface="Calibri"/>
              <a:sym typeface="Calibri"/>
            </a:endParaRPr>
          </a:p>
        </p:txBody>
      </p:sp>
      <p:sp>
        <p:nvSpPr>
          <p:cNvPr id="116" name="Google Shape;116;p4"/>
          <p:cNvSpPr/>
          <p:nvPr/>
        </p:nvSpPr>
        <p:spPr>
          <a:xfrm>
            <a:off x="983813" y="6365319"/>
            <a:ext cx="6077188" cy="355402"/>
          </a:xfrm>
          <a:prstGeom prst="rect">
            <a:avLst/>
          </a:prstGeom>
          <a:noFill/>
          <a:ln>
            <a:noFill/>
          </a:ln>
        </p:spPr>
        <p:txBody>
          <a:bodyPr anchorCtr="0" anchor="t" bIns="0" lIns="0" spcFirstLastPara="1" rIns="0" wrap="square" tIns="0">
            <a:noAutofit/>
          </a:bodyPr>
          <a:lstStyle/>
          <a:p>
            <a:pPr indent="0" lvl="0" marL="0" marR="0" rtl="0" algn="r">
              <a:lnSpc>
                <a:spcPct val="157142"/>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Focus on vulnerability.</a:t>
            </a:r>
            <a:endParaRPr sz="1750">
              <a:solidFill>
                <a:schemeClr val="dk1"/>
              </a:solidFill>
              <a:latin typeface="Calibri"/>
              <a:ea typeface="Calibri"/>
              <a:cs typeface="Calibri"/>
              <a:sym typeface="Calibri"/>
            </a:endParaRPr>
          </a:p>
        </p:txBody>
      </p:sp>
      <p:sp>
        <p:nvSpPr>
          <p:cNvPr id="117" name="Google Shape;117;p4"/>
          <p:cNvSpPr/>
          <p:nvPr/>
        </p:nvSpPr>
        <p:spPr>
          <a:xfrm>
            <a:off x="782955" y="7242572"/>
            <a:ext cx="13064490" cy="355402"/>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Instead of searching for the best </a:t>
            </a:r>
            <a:r>
              <a:rPr lang="en-US" sz="1750" u="sng">
                <a:solidFill>
                  <a:srgbClr val="404155"/>
                </a:solidFill>
                <a:latin typeface="Nobile"/>
                <a:ea typeface="Nobile"/>
                <a:cs typeface="Nobile"/>
                <a:sym typeface="Nobile"/>
              </a:rPr>
              <a:t>underdog</a:t>
            </a:r>
            <a:r>
              <a:rPr lang="en-US" sz="1750">
                <a:solidFill>
                  <a:srgbClr val="404155"/>
                </a:solidFill>
                <a:latin typeface="Nobile"/>
                <a:ea typeface="Nobile"/>
                <a:cs typeface="Nobile"/>
                <a:sym typeface="Nobile"/>
              </a:rPr>
              <a:t>, we chose a different path and tried to predict which team will </a:t>
            </a:r>
            <a:r>
              <a:rPr lang="en-US" sz="1750" u="sng">
                <a:solidFill>
                  <a:srgbClr val="404155"/>
                </a:solidFill>
                <a:latin typeface="Nobile"/>
                <a:ea typeface="Nobile"/>
                <a:cs typeface="Nobile"/>
                <a:sym typeface="Nobile"/>
              </a:rPr>
              <a:t>underperform</a:t>
            </a:r>
            <a:endParaRPr sz="1750">
              <a:solidFill>
                <a:schemeClr val="dk1"/>
              </a:solidFill>
              <a:latin typeface="Calibri"/>
              <a:ea typeface="Calibri"/>
              <a:cs typeface="Calibri"/>
              <a:sym typeface="Calibri"/>
            </a:endParaRPr>
          </a:p>
        </p:txBody>
      </p:sp>
      <p:sp>
        <p:nvSpPr>
          <p:cNvPr id="118" name="Google Shape;118;p4"/>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p:nvPr/>
        </p:nvSpPr>
        <p:spPr>
          <a:xfrm>
            <a:off x="4479846" y="2427922"/>
            <a:ext cx="5670590"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The Reality Check</a:t>
            </a:r>
            <a:endParaRPr sz="4450">
              <a:solidFill>
                <a:schemeClr val="dk1"/>
              </a:solidFill>
              <a:latin typeface="Calibri"/>
              <a:ea typeface="Calibri"/>
              <a:cs typeface="Calibri"/>
              <a:sym typeface="Calibri"/>
            </a:endParaRPr>
          </a:p>
        </p:txBody>
      </p:sp>
      <p:sp>
        <p:nvSpPr>
          <p:cNvPr id="125" name="Google Shape;125;p5"/>
          <p:cNvSpPr/>
          <p:nvPr/>
        </p:nvSpPr>
        <p:spPr>
          <a:xfrm>
            <a:off x="793790" y="3476863"/>
            <a:ext cx="13042821"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We could build a sound machine learning framework. We could engineer features and tune hyperparameters. But we weren't deep basketball experts who live and breathe March Madness strategy.</a:t>
            </a:r>
            <a:endParaRPr sz="1750">
              <a:solidFill>
                <a:schemeClr val="dk1"/>
              </a:solidFill>
              <a:latin typeface="Calibri"/>
              <a:ea typeface="Calibri"/>
              <a:cs typeface="Calibri"/>
              <a:sym typeface="Calibri"/>
            </a:endParaRPr>
          </a:p>
        </p:txBody>
      </p:sp>
      <p:sp>
        <p:nvSpPr>
          <p:cNvPr id="126" name="Google Shape;126;p5"/>
          <p:cNvSpPr/>
          <p:nvPr/>
        </p:nvSpPr>
        <p:spPr>
          <a:xfrm>
            <a:off x="793790" y="4457819"/>
            <a:ext cx="13042821"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The questions haunted us: Which metrics actually matter most in tournament settings? Rebounding? Free throws? Pace? Shot profile? Tournament composure under pressure? The model was strong. Our domain expertise wasn't.</a:t>
            </a:r>
            <a:endParaRPr sz="1750">
              <a:solidFill>
                <a:schemeClr val="dk1"/>
              </a:solidFill>
              <a:latin typeface="Calibri"/>
              <a:ea typeface="Calibri"/>
              <a:cs typeface="Calibri"/>
              <a:sym typeface="Calibri"/>
            </a:endParaRPr>
          </a:p>
        </p:txBody>
      </p:sp>
      <p:sp>
        <p:nvSpPr>
          <p:cNvPr id="127" name="Google Shape;127;p5"/>
          <p:cNvSpPr/>
          <p:nvPr/>
        </p:nvSpPr>
        <p:spPr>
          <a:xfrm>
            <a:off x="793790" y="5438775"/>
            <a:ext cx="130428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We needed certainty. So we asked expert's opinions.</a:t>
            </a:r>
            <a:endParaRPr sz="1750">
              <a:solidFill>
                <a:schemeClr val="dk1"/>
              </a:solidFill>
              <a:latin typeface="Calibri"/>
              <a:ea typeface="Calibri"/>
              <a:cs typeface="Calibri"/>
              <a:sym typeface="Calibri"/>
            </a:endParaRPr>
          </a:p>
        </p:txBody>
      </p:sp>
      <p:sp>
        <p:nvSpPr>
          <p:cNvPr id="128" name="Google Shape;128;p5"/>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p:nvPr/>
        </p:nvSpPr>
        <p:spPr>
          <a:xfrm>
            <a:off x="3897868" y="1630442"/>
            <a:ext cx="6834545"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The Expert Opinion Layer</a:t>
            </a:r>
            <a:endParaRPr sz="4450">
              <a:solidFill>
                <a:schemeClr val="dk1"/>
              </a:solidFill>
              <a:latin typeface="Calibri"/>
              <a:ea typeface="Calibri"/>
              <a:cs typeface="Calibri"/>
              <a:sym typeface="Calibri"/>
            </a:endParaRPr>
          </a:p>
        </p:txBody>
      </p:sp>
      <p:pic>
        <p:nvPicPr>
          <p:cNvPr descr="preencoded.png" id="135" name="Google Shape;135;p6"/>
          <p:cNvPicPr preferRelativeResize="0"/>
          <p:nvPr/>
        </p:nvPicPr>
        <p:blipFill rotWithShape="1">
          <a:blip r:embed="rId3">
            <a:alphaModFix/>
          </a:blip>
          <a:srcRect b="0" l="0" r="0" t="0"/>
          <a:stretch/>
        </p:blipFill>
        <p:spPr>
          <a:xfrm>
            <a:off x="793790" y="2934533"/>
            <a:ext cx="6108740" cy="3409474"/>
          </a:xfrm>
          <a:prstGeom prst="rect">
            <a:avLst/>
          </a:prstGeom>
          <a:noFill/>
          <a:ln>
            <a:noFill/>
          </a:ln>
        </p:spPr>
      </p:pic>
      <p:sp>
        <p:nvSpPr>
          <p:cNvPr id="136" name="Google Shape;136;p6"/>
          <p:cNvSpPr/>
          <p:nvPr/>
        </p:nvSpPr>
        <p:spPr>
          <a:xfrm>
            <a:off x="7809905" y="3094196"/>
            <a:ext cx="5687854" cy="425291"/>
          </a:xfrm>
          <a:prstGeom prst="rect">
            <a:avLst/>
          </a:prstGeom>
          <a:noFill/>
          <a:ln>
            <a:noFill/>
          </a:ln>
        </p:spPr>
        <p:txBody>
          <a:bodyPr anchorCtr="0" anchor="t" bIns="0" lIns="0" spcFirstLastPara="1" rIns="0" wrap="square" tIns="0">
            <a:noAutofit/>
          </a:bodyPr>
          <a:lstStyle/>
          <a:p>
            <a:pPr indent="0" lvl="0" marL="0" marR="0" rtl="0" algn="ctr">
              <a:lnSpc>
                <a:spcPct val="124528"/>
              </a:lnSpc>
              <a:spcBef>
                <a:spcPts val="0"/>
              </a:spcBef>
              <a:spcAft>
                <a:spcPts val="0"/>
              </a:spcAft>
              <a:buClr>
                <a:srgbClr val="1B1B27"/>
              </a:buClr>
              <a:buSzPts val="2650"/>
              <a:buFont typeface="Corben"/>
              <a:buNone/>
            </a:pPr>
            <a:r>
              <a:rPr lang="en-US" sz="2650">
                <a:solidFill>
                  <a:srgbClr val="1B1B27"/>
                </a:solidFill>
                <a:latin typeface="Corben"/>
                <a:ea typeface="Corben"/>
                <a:cs typeface="Corben"/>
                <a:sym typeface="Corben"/>
              </a:rPr>
              <a:t>Two Streams of Outside Intelligence</a:t>
            </a:r>
            <a:endParaRPr sz="2650">
              <a:solidFill>
                <a:schemeClr val="dk1"/>
              </a:solidFill>
              <a:latin typeface="Calibri"/>
              <a:ea typeface="Calibri"/>
              <a:cs typeface="Calibri"/>
              <a:sym typeface="Calibri"/>
            </a:endParaRPr>
          </a:p>
        </p:txBody>
      </p:sp>
      <p:sp>
        <p:nvSpPr>
          <p:cNvPr id="137" name="Google Shape;137;p6"/>
          <p:cNvSpPr/>
          <p:nvPr/>
        </p:nvSpPr>
        <p:spPr>
          <a:xfrm>
            <a:off x="7463552" y="3746302"/>
            <a:ext cx="6380559" cy="1530906"/>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4155"/>
              </a:buClr>
              <a:buSzPts val="1750"/>
              <a:buFont typeface="Nobile"/>
              <a:buChar char="•"/>
            </a:pPr>
            <a:r>
              <a:rPr lang="en-US" sz="1750">
                <a:solidFill>
                  <a:srgbClr val="404155"/>
                </a:solidFill>
                <a:latin typeface="Nobile"/>
                <a:ea typeface="Nobile"/>
                <a:cs typeface="Nobile"/>
                <a:sym typeface="Nobile"/>
              </a:rPr>
              <a:t>Sentiment analysis from public basketball discussion (Reddit /CollegeBasketball thread)</a:t>
            </a:r>
            <a:endParaRPr sz="1750">
              <a:solidFill>
                <a:schemeClr val="dk1"/>
              </a:solidFill>
              <a:latin typeface="Calibri"/>
              <a:ea typeface="Calibri"/>
              <a:cs typeface="Calibri"/>
              <a:sym typeface="Calibri"/>
            </a:endParaRPr>
          </a:p>
          <a:p>
            <a:pPr indent="-342900" lvl="0" marL="342900" marR="0" rtl="0" algn="l">
              <a:lnSpc>
                <a:spcPct val="162857"/>
              </a:lnSpc>
              <a:spcBef>
                <a:spcPts val="0"/>
              </a:spcBef>
              <a:spcAft>
                <a:spcPts val="0"/>
              </a:spcAft>
              <a:buClr>
                <a:srgbClr val="404155"/>
              </a:buClr>
              <a:buSzPts val="1750"/>
              <a:buFont typeface="Nobile"/>
              <a:buChar char="•"/>
            </a:pPr>
            <a:r>
              <a:rPr lang="en-US" sz="1750">
                <a:solidFill>
                  <a:srgbClr val="404155"/>
                </a:solidFill>
                <a:latin typeface="Nobile"/>
                <a:ea typeface="Nobile"/>
                <a:cs typeface="Nobile"/>
                <a:sym typeface="Nobile"/>
              </a:rPr>
              <a:t>Expert opinion input via questionnaire (CBS worker who covers March Madness)</a:t>
            </a:r>
            <a:endParaRPr sz="1750">
              <a:solidFill>
                <a:schemeClr val="dk1"/>
              </a:solidFill>
              <a:latin typeface="Calibri"/>
              <a:ea typeface="Calibri"/>
              <a:cs typeface="Calibri"/>
              <a:sym typeface="Calibri"/>
            </a:endParaRPr>
          </a:p>
        </p:txBody>
      </p:sp>
      <p:sp>
        <p:nvSpPr>
          <p:cNvPr id="138" name="Google Shape;138;p6"/>
          <p:cNvSpPr/>
          <p:nvPr/>
        </p:nvSpPr>
        <p:spPr>
          <a:xfrm>
            <a:off x="7463552" y="5481280"/>
            <a:ext cx="6380559"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The answers were normalized and transformed into predictive features that helped adjust probabilities.</a:t>
            </a:r>
            <a:endParaRPr sz="1750">
              <a:solidFill>
                <a:schemeClr val="dk1"/>
              </a:solidFill>
              <a:latin typeface="Calibri"/>
              <a:ea typeface="Calibri"/>
              <a:cs typeface="Calibri"/>
              <a:sym typeface="Calibri"/>
            </a:endParaRPr>
          </a:p>
        </p:txBody>
      </p:sp>
      <p:sp>
        <p:nvSpPr>
          <p:cNvPr id="139" name="Google Shape;139;p6"/>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p:nvPr/>
        </p:nvSpPr>
        <p:spPr>
          <a:xfrm>
            <a:off x="793790" y="1376958"/>
            <a:ext cx="1304282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Turning Opinions Into Data: Feature Engineering </a:t>
            </a:r>
            <a:endParaRPr sz="4450">
              <a:solidFill>
                <a:schemeClr val="dk1"/>
              </a:solidFill>
              <a:latin typeface="Calibri"/>
              <a:ea typeface="Calibri"/>
              <a:cs typeface="Calibri"/>
              <a:sym typeface="Calibri"/>
            </a:endParaRPr>
          </a:p>
        </p:txBody>
      </p:sp>
      <p:sp>
        <p:nvSpPr>
          <p:cNvPr id="146" name="Google Shape;146;p7"/>
          <p:cNvSpPr/>
          <p:nvPr/>
        </p:nvSpPr>
        <p:spPr>
          <a:xfrm>
            <a:off x="793790" y="2539365"/>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Corben"/>
              <a:buNone/>
            </a:pPr>
            <a:r>
              <a:rPr lang="en-US" sz="1750">
                <a:solidFill>
                  <a:srgbClr val="404155"/>
                </a:solidFill>
                <a:latin typeface="Corben"/>
                <a:ea typeface="Corben"/>
                <a:cs typeface="Corben"/>
                <a:sym typeface="Corben"/>
              </a:rPr>
              <a:t>01</a:t>
            </a:r>
            <a:endParaRPr sz="1750">
              <a:solidFill>
                <a:schemeClr val="dk1"/>
              </a:solidFill>
              <a:latin typeface="Calibri"/>
              <a:ea typeface="Calibri"/>
              <a:cs typeface="Calibri"/>
              <a:sym typeface="Calibri"/>
            </a:endParaRPr>
          </a:p>
        </p:txBody>
      </p:sp>
      <p:sp>
        <p:nvSpPr>
          <p:cNvPr id="147" name="Google Shape;147;p7"/>
          <p:cNvSpPr/>
          <p:nvPr/>
        </p:nvSpPr>
        <p:spPr>
          <a:xfrm>
            <a:off x="793790" y="2894409"/>
            <a:ext cx="6407944" cy="30480"/>
          </a:xfrm>
          <a:prstGeom prst="rect">
            <a:avLst/>
          </a:prstGeom>
          <a:solidFill>
            <a:srgbClr val="4967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7"/>
          <p:cNvSpPr/>
          <p:nvPr/>
        </p:nvSpPr>
        <p:spPr>
          <a:xfrm>
            <a:off x="793790" y="306871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Raw Input Collection</a:t>
            </a:r>
            <a:endParaRPr sz="2200">
              <a:solidFill>
                <a:schemeClr val="dk1"/>
              </a:solidFill>
              <a:latin typeface="Calibri"/>
              <a:ea typeface="Calibri"/>
              <a:cs typeface="Calibri"/>
              <a:sym typeface="Calibri"/>
            </a:endParaRPr>
          </a:p>
        </p:txBody>
      </p:sp>
      <p:sp>
        <p:nvSpPr>
          <p:cNvPr id="149" name="Google Shape;149;p7"/>
          <p:cNvSpPr/>
          <p:nvPr/>
        </p:nvSpPr>
        <p:spPr>
          <a:xfrm>
            <a:off x="793790" y="3559135"/>
            <a:ext cx="6407944"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Expert forms, public discussion sentiment</a:t>
            </a:r>
            <a:endParaRPr sz="1750">
              <a:solidFill>
                <a:schemeClr val="dk1"/>
              </a:solidFill>
              <a:latin typeface="Calibri"/>
              <a:ea typeface="Calibri"/>
              <a:cs typeface="Calibri"/>
              <a:sym typeface="Calibri"/>
            </a:endParaRPr>
          </a:p>
        </p:txBody>
      </p:sp>
      <p:sp>
        <p:nvSpPr>
          <p:cNvPr id="150" name="Google Shape;150;p7"/>
          <p:cNvSpPr/>
          <p:nvPr/>
        </p:nvSpPr>
        <p:spPr>
          <a:xfrm>
            <a:off x="7428548" y="2539365"/>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Corben"/>
              <a:buNone/>
            </a:pPr>
            <a:r>
              <a:rPr lang="en-US" sz="1750">
                <a:solidFill>
                  <a:srgbClr val="404155"/>
                </a:solidFill>
                <a:latin typeface="Corben"/>
                <a:ea typeface="Corben"/>
                <a:cs typeface="Corben"/>
                <a:sym typeface="Corben"/>
              </a:rPr>
              <a:t>02</a:t>
            </a:r>
            <a:endParaRPr sz="1750">
              <a:solidFill>
                <a:schemeClr val="dk1"/>
              </a:solidFill>
              <a:latin typeface="Calibri"/>
              <a:ea typeface="Calibri"/>
              <a:cs typeface="Calibri"/>
              <a:sym typeface="Calibri"/>
            </a:endParaRPr>
          </a:p>
        </p:txBody>
      </p:sp>
      <p:sp>
        <p:nvSpPr>
          <p:cNvPr id="151" name="Google Shape;151;p7"/>
          <p:cNvSpPr/>
          <p:nvPr/>
        </p:nvSpPr>
        <p:spPr>
          <a:xfrm>
            <a:off x="7428548" y="2894409"/>
            <a:ext cx="6408063" cy="30480"/>
          </a:xfrm>
          <a:prstGeom prst="rect">
            <a:avLst/>
          </a:prstGeom>
          <a:solidFill>
            <a:srgbClr val="4967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7"/>
          <p:cNvSpPr/>
          <p:nvPr/>
        </p:nvSpPr>
        <p:spPr>
          <a:xfrm>
            <a:off x="7428548" y="3202655"/>
            <a:ext cx="3483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Normalization &amp; Cleaning</a:t>
            </a:r>
            <a:endParaRPr sz="2200">
              <a:solidFill>
                <a:schemeClr val="dk1"/>
              </a:solidFill>
              <a:latin typeface="Calibri"/>
              <a:ea typeface="Calibri"/>
              <a:cs typeface="Calibri"/>
              <a:sym typeface="Calibri"/>
            </a:endParaRPr>
          </a:p>
        </p:txBody>
      </p:sp>
      <p:sp>
        <p:nvSpPr>
          <p:cNvPr id="153" name="Google Shape;153;p7"/>
          <p:cNvSpPr/>
          <p:nvPr/>
        </p:nvSpPr>
        <p:spPr>
          <a:xfrm>
            <a:off x="7428548" y="3617960"/>
            <a:ext cx="64080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Remove bias, standardize scales, filter noise</a:t>
            </a:r>
            <a:endParaRPr sz="1750">
              <a:solidFill>
                <a:schemeClr val="dk1"/>
              </a:solidFill>
              <a:latin typeface="Calibri"/>
              <a:ea typeface="Calibri"/>
              <a:cs typeface="Calibri"/>
              <a:sym typeface="Calibri"/>
            </a:endParaRPr>
          </a:p>
        </p:txBody>
      </p:sp>
      <p:sp>
        <p:nvSpPr>
          <p:cNvPr id="154" name="Google Shape;154;p7"/>
          <p:cNvSpPr/>
          <p:nvPr/>
        </p:nvSpPr>
        <p:spPr>
          <a:xfrm>
            <a:off x="793790" y="4318873"/>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Corben"/>
              <a:buNone/>
            </a:pPr>
            <a:r>
              <a:rPr lang="en-US" sz="1750">
                <a:solidFill>
                  <a:srgbClr val="404155"/>
                </a:solidFill>
                <a:latin typeface="Corben"/>
                <a:ea typeface="Corben"/>
                <a:cs typeface="Corben"/>
                <a:sym typeface="Corben"/>
              </a:rPr>
              <a:t>03</a:t>
            </a:r>
            <a:endParaRPr sz="1750">
              <a:solidFill>
                <a:schemeClr val="dk1"/>
              </a:solidFill>
              <a:latin typeface="Calibri"/>
              <a:ea typeface="Calibri"/>
              <a:cs typeface="Calibri"/>
              <a:sym typeface="Calibri"/>
            </a:endParaRPr>
          </a:p>
        </p:txBody>
      </p:sp>
      <p:sp>
        <p:nvSpPr>
          <p:cNvPr id="155" name="Google Shape;155;p7"/>
          <p:cNvSpPr/>
          <p:nvPr/>
        </p:nvSpPr>
        <p:spPr>
          <a:xfrm>
            <a:off x="793790" y="4673918"/>
            <a:ext cx="6407944" cy="30480"/>
          </a:xfrm>
          <a:prstGeom prst="rect">
            <a:avLst/>
          </a:prstGeom>
          <a:solidFill>
            <a:srgbClr val="4967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7"/>
          <p:cNvSpPr/>
          <p:nvPr/>
        </p:nvSpPr>
        <p:spPr>
          <a:xfrm>
            <a:off x="793790" y="4848225"/>
            <a:ext cx="301918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Signal Transformation</a:t>
            </a:r>
            <a:endParaRPr sz="2200">
              <a:solidFill>
                <a:schemeClr val="dk1"/>
              </a:solidFill>
              <a:latin typeface="Calibri"/>
              <a:ea typeface="Calibri"/>
              <a:cs typeface="Calibri"/>
              <a:sym typeface="Calibri"/>
            </a:endParaRPr>
          </a:p>
        </p:txBody>
      </p:sp>
      <p:sp>
        <p:nvSpPr>
          <p:cNvPr id="157" name="Google Shape;157;p7"/>
          <p:cNvSpPr/>
          <p:nvPr/>
        </p:nvSpPr>
        <p:spPr>
          <a:xfrm>
            <a:off x="793790" y="5338643"/>
            <a:ext cx="640794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Upset-risk warnings, concern indices, confidence scores, hype indicators</a:t>
            </a:r>
            <a:endParaRPr sz="1750">
              <a:solidFill>
                <a:schemeClr val="dk1"/>
              </a:solidFill>
              <a:latin typeface="Calibri"/>
              <a:ea typeface="Calibri"/>
              <a:cs typeface="Calibri"/>
              <a:sym typeface="Calibri"/>
            </a:endParaRPr>
          </a:p>
        </p:txBody>
      </p:sp>
      <p:sp>
        <p:nvSpPr>
          <p:cNvPr id="158" name="Google Shape;158;p7"/>
          <p:cNvSpPr/>
          <p:nvPr/>
        </p:nvSpPr>
        <p:spPr>
          <a:xfrm>
            <a:off x="7428548" y="4318873"/>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Corben"/>
              <a:buNone/>
            </a:pPr>
            <a:r>
              <a:rPr lang="en-US" sz="1750">
                <a:solidFill>
                  <a:srgbClr val="404155"/>
                </a:solidFill>
                <a:latin typeface="Corben"/>
                <a:ea typeface="Corben"/>
                <a:cs typeface="Corben"/>
                <a:sym typeface="Corben"/>
              </a:rPr>
              <a:t>04</a:t>
            </a:r>
            <a:endParaRPr sz="1750">
              <a:solidFill>
                <a:schemeClr val="dk1"/>
              </a:solidFill>
              <a:latin typeface="Calibri"/>
              <a:ea typeface="Calibri"/>
              <a:cs typeface="Calibri"/>
              <a:sym typeface="Calibri"/>
            </a:endParaRPr>
          </a:p>
        </p:txBody>
      </p:sp>
      <p:sp>
        <p:nvSpPr>
          <p:cNvPr id="159" name="Google Shape;159;p7"/>
          <p:cNvSpPr/>
          <p:nvPr/>
        </p:nvSpPr>
        <p:spPr>
          <a:xfrm>
            <a:off x="7428548" y="4673918"/>
            <a:ext cx="6408063" cy="30480"/>
          </a:xfrm>
          <a:prstGeom prst="rect">
            <a:avLst/>
          </a:prstGeom>
          <a:solidFill>
            <a:srgbClr val="4967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7"/>
          <p:cNvSpPr/>
          <p:nvPr/>
        </p:nvSpPr>
        <p:spPr>
          <a:xfrm>
            <a:off x="7428548" y="484822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Team-Level Features</a:t>
            </a:r>
            <a:endParaRPr sz="2200">
              <a:solidFill>
                <a:schemeClr val="dk1"/>
              </a:solidFill>
              <a:latin typeface="Calibri"/>
              <a:ea typeface="Calibri"/>
              <a:cs typeface="Calibri"/>
              <a:sym typeface="Calibri"/>
            </a:endParaRPr>
          </a:p>
        </p:txBody>
      </p:sp>
      <p:sp>
        <p:nvSpPr>
          <p:cNvPr id="161" name="Google Shape;161;p7"/>
          <p:cNvSpPr/>
          <p:nvPr/>
        </p:nvSpPr>
        <p:spPr>
          <a:xfrm>
            <a:off x="7428548" y="5338643"/>
            <a:ext cx="6408063"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Sentiment-weighted scores, expert vote totals, aggregated adjustment variables</a:t>
            </a:r>
            <a:endParaRPr sz="1750">
              <a:solidFill>
                <a:schemeClr val="dk1"/>
              </a:solidFill>
              <a:latin typeface="Calibri"/>
              <a:ea typeface="Calibri"/>
              <a:cs typeface="Calibri"/>
              <a:sym typeface="Calibri"/>
            </a:endParaRPr>
          </a:p>
        </p:txBody>
      </p:sp>
      <p:sp>
        <p:nvSpPr>
          <p:cNvPr id="162" name="Google Shape;162;p7"/>
          <p:cNvSpPr/>
          <p:nvPr/>
        </p:nvSpPr>
        <p:spPr>
          <a:xfrm>
            <a:off x="793790" y="6489621"/>
            <a:ext cx="130428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These became measurable inputs that helped us adjust base model probabilities.</a:t>
            </a:r>
            <a:endParaRPr sz="1750">
              <a:solidFill>
                <a:schemeClr val="dk1"/>
              </a:solidFill>
              <a:latin typeface="Calibri"/>
              <a:ea typeface="Calibri"/>
              <a:cs typeface="Calibri"/>
              <a:sym typeface="Calibri"/>
            </a:endParaRPr>
          </a:p>
        </p:txBody>
      </p:sp>
      <p:sp>
        <p:nvSpPr>
          <p:cNvPr id="163" name="Google Shape;163;p7"/>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preencoded.png" id="169" name="Google Shape;169;p8"/>
          <p:cNvPicPr preferRelativeResize="0"/>
          <p:nvPr/>
        </p:nvPicPr>
        <p:blipFill rotWithShape="1">
          <a:blip r:embed="rId3">
            <a:alphaModFix/>
          </a:blip>
          <a:srcRect b="0" l="0" r="0" t="0"/>
          <a:stretch/>
        </p:blipFill>
        <p:spPr>
          <a:xfrm>
            <a:off x="0" y="0"/>
            <a:ext cx="3657600" cy="8229600"/>
          </a:xfrm>
          <a:prstGeom prst="rect">
            <a:avLst/>
          </a:prstGeom>
          <a:noFill/>
          <a:ln>
            <a:noFill/>
          </a:ln>
        </p:spPr>
      </p:pic>
      <p:sp>
        <p:nvSpPr>
          <p:cNvPr id="170" name="Google Shape;170;p8"/>
          <p:cNvSpPr/>
          <p:nvPr/>
        </p:nvSpPr>
        <p:spPr>
          <a:xfrm>
            <a:off x="5264110" y="2555558"/>
            <a:ext cx="7759660"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What Extra Layers Got Right</a:t>
            </a:r>
            <a:endParaRPr sz="4450">
              <a:solidFill>
                <a:schemeClr val="dk1"/>
              </a:solidFill>
              <a:latin typeface="Calibri"/>
              <a:ea typeface="Calibri"/>
              <a:cs typeface="Calibri"/>
              <a:sym typeface="Calibri"/>
            </a:endParaRPr>
          </a:p>
        </p:txBody>
      </p:sp>
      <p:sp>
        <p:nvSpPr>
          <p:cNvPr id="171" name="Google Shape;171;p8"/>
          <p:cNvSpPr/>
          <p:nvPr/>
        </p:nvSpPr>
        <p:spPr>
          <a:xfrm>
            <a:off x="4451390" y="3717846"/>
            <a:ext cx="9385221"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4155"/>
              </a:buClr>
              <a:buSzPts val="5850"/>
              <a:buFont typeface="Corben"/>
              <a:buNone/>
            </a:pPr>
            <a:r>
              <a:rPr lang="en-US" sz="5850">
                <a:solidFill>
                  <a:srgbClr val="404155"/>
                </a:solidFill>
                <a:latin typeface="Corben"/>
                <a:ea typeface="Corben"/>
                <a:cs typeface="Corben"/>
                <a:sym typeface="Corben"/>
              </a:rPr>
              <a:t>4</a:t>
            </a:r>
            <a:endParaRPr sz="5850">
              <a:solidFill>
                <a:schemeClr val="dk1"/>
              </a:solidFill>
              <a:latin typeface="Calibri"/>
              <a:ea typeface="Calibri"/>
              <a:cs typeface="Calibri"/>
              <a:sym typeface="Calibri"/>
            </a:endParaRPr>
          </a:p>
        </p:txBody>
      </p:sp>
      <p:sp>
        <p:nvSpPr>
          <p:cNvPr id="172" name="Google Shape;172;p8"/>
          <p:cNvSpPr/>
          <p:nvPr/>
        </p:nvSpPr>
        <p:spPr>
          <a:xfrm>
            <a:off x="6738937" y="4749641"/>
            <a:ext cx="4810006" cy="425291"/>
          </a:xfrm>
          <a:prstGeom prst="rect">
            <a:avLst/>
          </a:prstGeom>
          <a:noFill/>
          <a:ln>
            <a:noFill/>
          </a:ln>
        </p:spPr>
        <p:txBody>
          <a:bodyPr anchorCtr="0" anchor="t" bIns="0" lIns="0" spcFirstLastPara="1" rIns="0" wrap="square" tIns="0">
            <a:noAutofit/>
          </a:bodyPr>
          <a:lstStyle/>
          <a:p>
            <a:pPr indent="0" lvl="0" marL="0" marR="0" rtl="0" algn="ctr">
              <a:lnSpc>
                <a:spcPct val="124528"/>
              </a:lnSpc>
              <a:spcBef>
                <a:spcPts val="0"/>
              </a:spcBef>
              <a:spcAft>
                <a:spcPts val="0"/>
              </a:spcAft>
              <a:buClr>
                <a:srgbClr val="404155"/>
              </a:buClr>
              <a:buSzPts val="2650"/>
              <a:buFont typeface="Corben"/>
              <a:buNone/>
            </a:pPr>
            <a:r>
              <a:rPr lang="en-US" sz="2650">
                <a:solidFill>
                  <a:srgbClr val="404155"/>
                </a:solidFill>
                <a:latin typeface="Corben"/>
                <a:ea typeface="Corben"/>
                <a:cs typeface="Corben"/>
                <a:sym typeface="Corben"/>
              </a:rPr>
              <a:t>Correctly Flagged Upset Cases</a:t>
            </a:r>
            <a:endParaRPr sz="2650">
              <a:solidFill>
                <a:schemeClr val="dk1"/>
              </a:solidFill>
              <a:latin typeface="Calibri"/>
              <a:ea typeface="Calibri"/>
              <a:cs typeface="Calibri"/>
              <a:sym typeface="Calibri"/>
            </a:endParaRPr>
          </a:p>
        </p:txBody>
      </p:sp>
      <p:sp>
        <p:nvSpPr>
          <p:cNvPr id="173" name="Google Shape;173;p8"/>
          <p:cNvSpPr/>
          <p:nvPr/>
        </p:nvSpPr>
        <p:spPr>
          <a:xfrm>
            <a:off x="4451390" y="5311021"/>
            <a:ext cx="93852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Expert and sentiment layers identified vulnerability that base model </a:t>
            </a:r>
            <a:r>
              <a:rPr lang="en-US" sz="1750" u="sng">
                <a:solidFill>
                  <a:srgbClr val="404155"/>
                </a:solidFill>
                <a:latin typeface="Nobile"/>
                <a:ea typeface="Nobile"/>
                <a:cs typeface="Nobile"/>
                <a:sym typeface="Nobile"/>
              </a:rPr>
              <a:t>underestimated</a:t>
            </a:r>
            <a:endParaRPr sz="1750">
              <a:solidFill>
                <a:schemeClr val="dk1"/>
              </a:solidFill>
              <a:latin typeface="Calibri"/>
              <a:ea typeface="Calibri"/>
              <a:cs typeface="Calibri"/>
              <a:sym typeface="Calibri"/>
            </a:endParaRPr>
          </a:p>
        </p:txBody>
      </p:sp>
      <p:sp>
        <p:nvSpPr>
          <p:cNvPr id="174" name="Google Shape;174;p8"/>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9"/>
          <p:cNvSpPr/>
          <p:nvPr/>
        </p:nvSpPr>
        <p:spPr>
          <a:xfrm>
            <a:off x="793790" y="1322665"/>
            <a:ext cx="4827270"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B1B27"/>
              </a:buClr>
              <a:buSzPts val="3550"/>
              <a:buFont typeface="Corben"/>
              <a:buNone/>
            </a:pPr>
            <a:r>
              <a:rPr lang="en-US" sz="3550">
                <a:solidFill>
                  <a:srgbClr val="1B1B27"/>
                </a:solidFill>
                <a:latin typeface="Corben"/>
                <a:ea typeface="Corben"/>
                <a:cs typeface="Corben"/>
                <a:sym typeface="Corben"/>
              </a:rPr>
              <a:t>What Happened Next?</a:t>
            </a:r>
            <a:endParaRPr sz="3550">
              <a:solidFill>
                <a:schemeClr val="dk1"/>
              </a:solidFill>
              <a:latin typeface="Calibri"/>
              <a:ea typeface="Calibri"/>
              <a:cs typeface="Calibri"/>
              <a:sym typeface="Calibri"/>
            </a:endParaRPr>
          </a:p>
        </p:txBody>
      </p:sp>
      <p:sp>
        <p:nvSpPr>
          <p:cNvPr id="181" name="Google Shape;181;p9"/>
          <p:cNvSpPr/>
          <p:nvPr/>
        </p:nvSpPr>
        <p:spPr>
          <a:xfrm>
            <a:off x="793790" y="2116455"/>
            <a:ext cx="9235797" cy="1814036"/>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Clr>
                <a:srgbClr val="404155"/>
              </a:buClr>
              <a:buSzPts val="2200"/>
              <a:buFont typeface="Nobile"/>
              <a:buNone/>
            </a:pPr>
            <a:r>
              <a:rPr lang="en-US" sz="2200">
                <a:solidFill>
                  <a:srgbClr val="404155"/>
                </a:solidFill>
                <a:latin typeface="Nobile"/>
                <a:ea typeface="Nobile"/>
                <a:cs typeface="Nobile"/>
                <a:sym typeface="Nobile"/>
              </a:rPr>
              <a:t>BYU was one of the clearest warning cases. Expert opinion and sentiment analysis both strongly suggested vulnerability. The base model still leaned towards the favorite because we did not put enough "trust" in those features.</a:t>
            </a:r>
            <a:endParaRPr sz="2200">
              <a:solidFill>
                <a:schemeClr val="dk1"/>
              </a:solidFill>
              <a:latin typeface="Calibri"/>
              <a:ea typeface="Calibri"/>
              <a:cs typeface="Calibri"/>
              <a:sym typeface="Calibri"/>
            </a:endParaRPr>
          </a:p>
        </p:txBody>
      </p:sp>
      <p:sp>
        <p:nvSpPr>
          <p:cNvPr id="182" name="Google Shape;182;p9"/>
          <p:cNvSpPr/>
          <p:nvPr/>
        </p:nvSpPr>
        <p:spPr>
          <a:xfrm>
            <a:off x="793790" y="4157305"/>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B1B27"/>
              </a:buClr>
              <a:buSzPts val="3550"/>
              <a:buFont typeface="Corben"/>
              <a:buNone/>
            </a:pPr>
            <a:r>
              <a:rPr lang="en-US" sz="3550">
                <a:solidFill>
                  <a:srgbClr val="1B1B27"/>
                </a:solidFill>
                <a:latin typeface="Corben"/>
                <a:ea typeface="Corben"/>
                <a:cs typeface="Corben"/>
                <a:sym typeface="Corben"/>
              </a:rPr>
              <a:t>The Real Lesson</a:t>
            </a:r>
            <a:endParaRPr sz="3550">
              <a:solidFill>
                <a:schemeClr val="dk1"/>
              </a:solidFill>
              <a:latin typeface="Calibri"/>
              <a:ea typeface="Calibri"/>
              <a:cs typeface="Calibri"/>
              <a:sym typeface="Calibri"/>
            </a:endParaRPr>
          </a:p>
        </p:txBody>
      </p:sp>
      <p:sp>
        <p:nvSpPr>
          <p:cNvPr id="183" name="Google Shape;183;p9"/>
          <p:cNvSpPr/>
          <p:nvPr/>
        </p:nvSpPr>
        <p:spPr>
          <a:xfrm>
            <a:off x="793790" y="4951095"/>
            <a:ext cx="9235797" cy="1360527"/>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Clr>
                <a:srgbClr val="404155"/>
              </a:buClr>
              <a:buSzPts val="2200"/>
              <a:buFont typeface="Nobile"/>
              <a:buNone/>
            </a:pPr>
            <a:r>
              <a:rPr lang="en-US" sz="2200">
                <a:solidFill>
                  <a:srgbClr val="404155"/>
                </a:solidFill>
                <a:latin typeface="Nobile"/>
                <a:ea typeface="Nobile"/>
                <a:cs typeface="Nobile"/>
                <a:sym typeface="Nobile"/>
              </a:rPr>
              <a:t>Our base statistical model performed well overall. But we could have guessed 4(!) upsets if assigned enough weight to the expert-opinion,</a:t>
            </a:r>
            <a:endParaRPr sz="2200">
              <a:solidFill>
                <a:schemeClr val="dk1"/>
              </a:solidFill>
              <a:latin typeface="Calibri"/>
              <a:ea typeface="Calibri"/>
              <a:cs typeface="Calibri"/>
              <a:sym typeface="Calibri"/>
            </a:endParaRPr>
          </a:p>
        </p:txBody>
      </p:sp>
      <p:pic>
        <p:nvPicPr>
          <p:cNvPr descr="preencoded.png" id="184" name="Google Shape;184;p9"/>
          <p:cNvPicPr preferRelativeResize="0"/>
          <p:nvPr/>
        </p:nvPicPr>
        <p:blipFill rotWithShape="1">
          <a:blip r:embed="rId3">
            <a:alphaModFix/>
          </a:blip>
          <a:srcRect b="0" l="0" r="0" t="0"/>
          <a:stretch/>
        </p:blipFill>
        <p:spPr>
          <a:xfrm>
            <a:off x="10590609" y="1636752"/>
            <a:ext cx="3253502" cy="4337923"/>
          </a:xfrm>
          <a:prstGeom prst="rect">
            <a:avLst/>
          </a:prstGeom>
          <a:noFill/>
          <a:ln>
            <a:noFill/>
          </a:ln>
        </p:spPr>
      </p:pic>
      <p:sp>
        <p:nvSpPr>
          <p:cNvPr id="185" name="Google Shape;185;p9"/>
          <p:cNvSpPr/>
          <p:nvPr/>
        </p:nvSpPr>
        <p:spPr>
          <a:xfrm>
            <a:off x="793790" y="6770846"/>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chemeClr val="dk1"/>
              </a:buClr>
              <a:buSzPts val="1750"/>
              <a:buFont typeface="Calibri"/>
              <a:buNone/>
            </a:pPr>
            <a:r>
              <a:t/>
            </a:r>
            <a:endParaRPr sz="1750">
              <a:solidFill>
                <a:schemeClr val="dk1"/>
              </a:solidFill>
              <a:latin typeface="Calibri"/>
              <a:ea typeface="Calibri"/>
              <a:cs typeface="Calibri"/>
              <a:sym typeface="Calibri"/>
            </a:endParaRPr>
          </a:p>
        </p:txBody>
      </p:sp>
      <p:sp>
        <p:nvSpPr>
          <p:cNvPr id="186" name="Google Shape;186;p9"/>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p:nvPr/>
        </p:nvSpPr>
        <p:spPr>
          <a:xfrm>
            <a:off x="4668917" y="1420297"/>
            <a:ext cx="5292447" cy="661511"/>
          </a:xfrm>
          <a:prstGeom prst="rect">
            <a:avLst/>
          </a:prstGeom>
          <a:noFill/>
          <a:ln>
            <a:noFill/>
          </a:ln>
        </p:spPr>
        <p:txBody>
          <a:bodyPr anchorCtr="0" anchor="t" bIns="0" lIns="0" spcFirstLastPara="1" rIns="0" wrap="square" tIns="0">
            <a:noAutofit/>
          </a:bodyPr>
          <a:lstStyle/>
          <a:p>
            <a:pPr indent="0" lvl="0" marL="0" marR="0" rtl="0" algn="ctr">
              <a:lnSpc>
                <a:spcPct val="125301"/>
              </a:lnSpc>
              <a:spcBef>
                <a:spcPts val="0"/>
              </a:spcBef>
              <a:spcAft>
                <a:spcPts val="0"/>
              </a:spcAft>
              <a:buClr>
                <a:srgbClr val="1B1B27"/>
              </a:buClr>
              <a:buSzPts val="4150"/>
              <a:buFont typeface="Corben"/>
              <a:buNone/>
            </a:pPr>
            <a:r>
              <a:rPr lang="en-US" sz="4150">
                <a:solidFill>
                  <a:srgbClr val="1B1B27"/>
                </a:solidFill>
                <a:latin typeface="Corben"/>
                <a:ea typeface="Corben"/>
                <a:cs typeface="Corben"/>
                <a:sym typeface="Corben"/>
              </a:rPr>
              <a:t>Performance So Far</a:t>
            </a:r>
            <a:endParaRPr sz="4150">
              <a:solidFill>
                <a:schemeClr val="dk1"/>
              </a:solidFill>
              <a:latin typeface="Calibri"/>
              <a:ea typeface="Calibri"/>
              <a:cs typeface="Calibri"/>
              <a:sym typeface="Calibri"/>
            </a:endParaRPr>
          </a:p>
        </p:txBody>
      </p:sp>
      <p:pic>
        <p:nvPicPr>
          <p:cNvPr descr="preencoded.png" id="193" name="Google Shape;193;p10"/>
          <p:cNvPicPr preferRelativeResize="0"/>
          <p:nvPr/>
        </p:nvPicPr>
        <p:blipFill rotWithShape="1">
          <a:blip r:embed="rId3">
            <a:alphaModFix/>
          </a:blip>
          <a:srcRect b="0" l="0" r="0" t="0"/>
          <a:stretch/>
        </p:blipFill>
        <p:spPr>
          <a:xfrm>
            <a:off x="740926" y="2689238"/>
            <a:ext cx="5631180" cy="3120766"/>
          </a:xfrm>
          <a:prstGeom prst="rect">
            <a:avLst/>
          </a:prstGeom>
          <a:noFill/>
          <a:ln>
            <a:noFill/>
          </a:ln>
        </p:spPr>
      </p:pic>
      <p:sp>
        <p:nvSpPr>
          <p:cNvPr id="194" name="Google Shape;194;p10"/>
          <p:cNvSpPr/>
          <p:nvPr/>
        </p:nvSpPr>
        <p:spPr>
          <a:xfrm>
            <a:off x="3922328" y="5248247"/>
            <a:ext cx="192993" cy="21487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lang="en-US" sz="750">
                <a:solidFill>
                  <a:srgbClr val="000000"/>
                </a:solidFill>
                <a:latin typeface="Arial"/>
                <a:ea typeface="Arial"/>
                <a:cs typeface="Arial"/>
                <a:sym typeface="Arial"/>
              </a:rPr>
              <a:t>75%</a:t>
            </a:r>
            <a:endParaRPr sz="750">
              <a:solidFill>
                <a:schemeClr val="dk1"/>
              </a:solidFill>
              <a:latin typeface="Calibri"/>
              <a:ea typeface="Calibri"/>
              <a:cs typeface="Calibri"/>
              <a:sym typeface="Calibri"/>
            </a:endParaRPr>
          </a:p>
        </p:txBody>
      </p:sp>
      <p:sp>
        <p:nvSpPr>
          <p:cNvPr id="195" name="Google Shape;195;p10"/>
          <p:cNvSpPr/>
          <p:nvPr/>
        </p:nvSpPr>
        <p:spPr>
          <a:xfrm>
            <a:off x="1537007" y="2981477"/>
            <a:ext cx="192993" cy="21487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lang="en-US" sz="750">
                <a:solidFill>
                  <a:srgbClr val="000000"/>
                </a:solidFill>
                <a:latin typeface="Arial"/>
                <a:ea typeface="Arial"/>
                <a:cs typeface="Arial"/>
                <a:sym typeface="Arial"/>
              </a:rPr>
              <a:t>25%</a:t>
            </a:r>
            <a:endParaRPr sz="750">
              <a:solidFill>
                <a:schemeClr val="dk1"/>
              </a:solidFill>
              <a:latin typeface="Calibri"/>
              <a:ea typeface="Calibri"/>
              <a:cs typeface="Calibri"/>
              <a:sym typeface="Calibri"/>
            </a:endParaRPr>
          </a:p>
        </p:txBody>
      </p:sp>
      <p:sp>
        <p:nvSpPr>
          <p:cNvPr id="196" name="Google Shape;196;p10"/>
          <p:cNvSpPr/>
          <p:nvPr/>
        </p:nvSpPr>
        <p:spPr>
          <a:xfrm>
            <a:off x="4430831" y="3973272"/>
            <a:ext cx="1234483" cy="188941"/>
          </a:xfrm>
          <a:prstGeom prst="roundRect">
            <a:avLst>
              <a:gd fmla="val 81305" name="adj"/>
            </a:avLst>
          </a:prstGeom>
          <a:solidFill>
            <a:srgbClr val="FFFFFF">
              <a:alpha val="20000"/>
            </a:srgbClr>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7" name="Google Shape;197;p10"/>
          <p:cNvPicPr preferRelativeResize="0"/>
          <p:nvPr/>
        </p:nvPicPr>
        <p:blipFill rotWithShape="1">
          <a:blip r:embed="rId4">
            <a:alphaModFix/>
          </a:blip>
          <a:srcRect b="0" l="0" r="0" t="0"/>
          <a:stretch/>
        </p:blipFill>
        <p:spPr>
          <a:xfrm>
            <a:off x="4491496" y="4014372"/>
            <a:ext cx="106627" cy="106627"/>
          </a:xfrm>
          <a:prstGeom prst="rect">
            <a:avLst/>
          </a:prstGeom>
          <a:noFill/>
          <a:ln>
            <a:noFill/>
          </a:ln>
        </p:spPr>
      </p:pic>
      <p:sp>
        <p:nvSpPr>
          <p:cNvPr id="198" name="Google Shape;198;p10"/>
          <p:cNvSpPr/>
          <p:nvPr/>
        </p:nvSpPr>
        <p:spPr>
          <a:xfrm>
            <a:off x="4633664" y="3998395"/>
            <a:ext cx="970985" cy="13869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404155"/>
              </a:buClr>
              <a:buSzPts val="850"/>
              <a:buFont typeface="Arial"/>
              <a:buNone/>
            </a:pPr>
            <a:r>
              <a:rPr lang="en-US" sz="850">
                <a:solidFill>
                  <a:srgbClr val="404155"/>
                </a:solidFill>
                <a:latin typeface="Arial"/>
                <a:ea typeface="Arial"/>
                <a:cs typeface="Arial"/>
                <a:sym typeface="Arial"/>
              </a:rPr>
              <a:t>Correct Picks·75%</a:t>
            </a:r>
            <a:endParaRPr sz="850">
              <a:solidFill>
                <a:schemeClr val="dk1"/>
              </a:solidFill>
              <a:latin typeface="Calibri"/>
              <a:ea typeface="Calibri"/>
              <a:cs typeface="Calibri"/>
              <a:sym typeface="Calibri"/>
            </a:endParaRPr>
          </a:p>
        </p:txBody>
      </p:sp>
      <p:sp>
        <p:nvSpPr>
          <p:cNvPr id="199" name="Google Shape;199;p10"/>
          <p:cNvSpPr/>
          <p:nvPr/>
        </p:nvSpPr>
        <p:spPr>
          <a:xfrm>
            <a:off x="5280254" y="3998395"/>
            <a:ext cx="324395" cy="13869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404155"/>
              </a:buClr>
              <a:buSzPts val="850"/>
              <a:buFont typeface="Arial"/>
              <a:buNone/>
            </a:pPr>
            <a:r>
              <a:rPr lang="en-US" sz="850">
                <a:solidFill>
                  <a:srgbClr val="404155"/>
                </a:solidFill>
                <a:latin typeface="Arial"/>
                <a:ea typeface="Arial"/>
                <a:cs typeface="Arial"/>
                <a:sym typeface="Arial"/>
              </a:rPr>
              <a:t>·75%</a:t>
            </a:r>
            <a:endParaRPr sz="850">
              <a:solidFill>
                <a:schemeClr val="dk1"/>
              </a:solidFill>
              <a:latin typeface="Calibri"/>
              <a:ea typeface="Calibri"/>
              <a:cs typeface="Calibri"/>
              <a:sym typeface="Calibri"/>
            </a:endParaRPr>
          </a:p>
        </p:txBody>
      </p:sp>
      <p:sp>
        <p:nvSpPr>
          <p:cNvPr id="200" name="Google Shape;200;p10"/>
          <p:cNvSpPr/>
          <p:nvPr/>
        </p:nvSpPr>
        <p:spPr>
          <a:xfrm>
            <a:off x="5322859" y="3998395"/>
            <a:ext cx="28596" cy="13869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404155"/>
              </a:buClr>
              <a:buSzPts val="850"/>
              <a:buFont typeface="Arial"/>
              <a:buNone/>
            </a:pPr>
            <a:r>
              <a:rPr lang="en-US" sz="850">
                <a:solidFill>
                  <a:srgbClr val="404155"/>
                </a:solidFill>
                <a:latin typeface="Arial"/>
                <a:ea typeface="Arial"/>
                <a:cs typeface="Arial"/>
                <a:sym typeface="Arial"/>
              </a:rPr>
              <a:t>·</a:t>
            </a:r>
            <a:endParaRPr sz="850">
              <a:solidFill>
                <a:schemeClr val="dk1"/>
              </a:solidFill>
              <a:latin typeface="Calibri"/>
              <a:ea typeface="Calibri"/>
              <a:cs typeface="Calibri"/>
              <a:sym typeface="Calibri"/>
            </a:endParaRPr>
          </a:p>
        </p:txBody>
      </p:sp>
      <p:sp>
        <p:nvSpPr>
          <p:cNvPr id="201" name="Google Shape;201;p10"/>
          <p:cNvSpPr/>
          <p:nvPr/>
        </p:nvSpPr>
        <p:spPr>
          <a:xfrm>
            <a:off x="4430831" y="4221489"/>
            <a:ext cx="1320386" cy="188941"/>
          </a:xfrm>
          <a:prstGeom prst="roundRect">
            <a:avLst>
              <a:gd fmla="val 81305" name="adj"/>
            </a:avLst>
          </a:prstGeom>
          <a:solidFill>
            <a:srgbClr val="FFFFFF">
              <a:alpha val="20000"/>
            </a:srgbClr>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2" name="Google Shape;202;p10"/>
          <p:cNvPicPr preferRelativeResize="0"/>
          <p:nvPr/>
        </p:nvPicPr>
        <p:blipFill rotWithShape="1">
          <a:blip r:embed="rId5">
            <a:alphaModFix/>
          </a:blip>
          <a:srcRect b="0" l="0" r="0" t="0"/>
          <a:stretch/>
        </p:blipFill>
        <p:spPr>
          <a:xfrm>
            <a:off x="4491496" y="4262588"/>
            <a:ext cx="106627" cy="106627"/>
          </a:xfrm>
          <a:prstGeom prst="rect">
            <a:avLst/>
          </a:prstGeom>
          <a:noFill/>
          <a:ln>
            <a:noFill/>
          </a:ln>
        </p:spPr>
      </p:pic>
      <p:sp>
        <p:nvSpPr>
          <p:cNvPr id="203" name="Google Shape;203;p10"/>
          <p:cNvSpPr/>
          <p:nvPr/>
        </p:nvSpPr>
        <p:spPr>
          <a:xfrm>
            <a:off x="4633664" y="4246611"/>
            <a:ext cx="1056889" cy="13869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404155"/>
              </a:buClr>
              <a:buSzPts val="850"/>
              <a:buFont typeface="Arial"/>
              <a:buNone/>
            </a:pPr>
            <a:r>
              <a:rPr lang="en-US" sz="850">
                <a:solidFill>
                  <a:srgbClr val="404155"/>
                </a:solidFill>
                <a:latin typeface="Arial"/>
                <a:ea typeface="Arial"/>
                <a:cs typeface="Arial"/>
                <a:sym typeface="Arial"/>
              </a:rPr>
              <a:t>Incorrect Picks·25%</a:t>
            </a:r>
            <a:endParaRPr sz="850">
              <a:solidFill>
                <a:schemeClr val="dk1"/>
              </a:solidFill>
              <a:latin typeface="Calibri"/>
              <a:ea typeface="Calibri"/>
              <a:cs typeface="Calibri"/>
              <a:sym typeface="Calibri"/>
            </a:endParaRPr>
          </a:p>
        </p:txBody>
      </p:sp>
      <p:sp>
        <p:nvSpPr>
          <p:cNvPr id="204" name="Google Shape;204;p10"/>
          <p:cNvSpPr/>
          <p:nvPr/>
        </p:nvSpPr>
        <p:spPr>
          <a:xfrm>
            <a:off x="5366158" y="4246611"/>
            <a:ext cx="324395" cy="13869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404155"/>
              </a:buClr>
              <a:buSzPts val="850"/>
              <a:buFont typeface="Arial"/>
              <a:buNone/>
            </a:pPr>
            <a:r>
              <a:rPr lang="en-US" sz="850">
                <a:solidFill>
                  <a:srgbClr val="404155"/>
                </a:solidFill>
                <a:latin typeface="Arial"/>
                <a:ea typeface="Arial"/>
                <a:cs typeface="Arial"/>
                <a:sym typeface="Arial"/>
              </a:rPr>
              <a:t>·</a:t>
            </a:r>
            <a:endParaRPr sz="850">
              <a:solidFill>
                <a:schemeClr val="dk1"/>
              </a:solidFill>
              <a:latin typeface="Calibri"/>
              <a:ea typeface="Calibri"/>
              <a:cs typeface="Calibri"/>
              <a:sym typeface="Calibri"/>
            </a:endParaRPr>
          </a:p>
        </p:txBody>
      </p:sp>
      <p:sp>
        <p:nvSpPr>
          <p:cNvPr id="205" name="Google Shape;205;p10"/>
          <p:cNvSpPr/>
          <p:nvPr/>
        </p:nvSpPr>
        <p:spPr>
          <a:xfrm>
            <a:off x="5408762" y="4246611"/>
            <a:ext cx="28596" cy="13869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404155"/>
              </a:buClr>
              <a:buSzPts val="850"/>
              <a:buFont typeface="Arial"/>
              <a:buNone/>
            </a:pPr>
            <a:r>
              <a:rPr lang="en-US" sz="850">
                <a:solidFill>
                  <a:srgbClr val="404155"/>
                </a:solidFill>
                <a:latin typeface="Arial"/>
                <a:ea typeface="Arial"/>
                <a:cs typeface="Arial"/>
                <a:sym typeface="Arial"/>
              </a:rPr>
              <a:t>·</a:t>
            </a:r>
            <a:endParaRPr sz="850">
              <a:solidFill>
                <a:schemeClr val="dk1"/>
              </a:solidFill>
              <a:latin typeface="Calibri"/>
              <a:ea typeface="Calibri"/>
              <a:cs typeface="Calibri"/>
              <a:sym typeface="Calibri"/>
            </a:endParaRPr>
          </a:p>
        </p:txBody>
      </p:sp>
      <p:sp>
        <p:nvSpPr>
          <p:cNvPr id="206" name="Google Shape;206;p10"/>
          <p:cNvSpPr/>
          <p:nvPr/>
        </p:nvSpPr>
        <p:spPr>
          <a:xfrm>
            <a:off x="740926" y="5976818"/>
            <a:ext cx="5632728" cy="654606"/>
          </a:xfrm>
          <a:prstGeom prst="rect">
            <a:avLst/>
          </a:prstGeom>
          <a:noFill/>
          <a:ln>
            <a:noFill/>
          </a:ln>
        </p:spPr>
        <p:txBody>
          <a:bodyPr anchorCtr="0" anchor="t" bIns="0" lIns="0" spcFirstLastPara="1" rIns="0" wrap="square" tIns="0">
            <a:noAutofit/>
          </a:bodyPr>
          <a:lstStyle/>
          <a:p>
            <a:pPr indent="0" lvl="0" marL="0" marR="0" rtl="0" algn="ctr">
              <a:lnSpc>
                <a:spcPct val="154545"/>
              </a:lnSpc>
              <a:spcBef>
                <a:spcPts val="0"/>
              </a:spcBef>
              <a:spcAft>
                <a:spcPts val="0"/>
              </a:spcAft>
              <a:buClr>
                <a:srgbClr val="404155"/>
              </a:buClr>
              <a:buSzPts val="1650"/>
              <a:buFont typeface="Nobile"/>
              <a:buNone/>
            </a:pPr>
            <a:r>
              <a:rPr lang="en-US" sz="1650">
                <a:solidFill>
                  <a:srgbClr val="404155"/>
                </a:solidFill>
                <a:latin typeface="Nobile"/>
                <a:ea typeface="Nobile"/>
                <a:cs typeface="Nobile"/>
                <a:sym typeface="Nobile"/>
              </a:rPr>
              <a:t>With </a:t>
            </a:r>
            <a:r>
              <a:rPr b="1" lang="en-US" sz="1650">
                <a:solidFill>
                  <a:srgbClr val="404155"/>
                </a:solidFill>
                <a:latin typeface="Nobile"/>
                <a:ea typeface="Nobile"/>
                <a:cs typeface="Nobile"/>
                <a:sym typeface="Nobile"/>
              </a:rPr>
              <a:t>39 correct picks</a:t>
            </a:r>
            <a:r>
              <a:rPr lang="en-US" sz="1650">
                <a:solidFill>
                  <a:srgbClr val="404155"/>
                </a:solidFill>
                <a:latin typeface="Nobile"/>
                <a:ea typeface="Nobile"/>
                <a:cs typeface="Nobile"/>
                <a:sym typeface="Nobile"/>
              </a:rPr>
              <a:t> out of 52 completed games, our model achieved a </a:t>
            </a:r>
            <a:r>
              <a:rPr b="1" lang="en-US" sz="1650">
                <a:solidFill>
                  <a:srgbClr val="404155"/>
                </a:solidFill>
                <a:latin typeface="Nobile"/>
                <a:ea typeface="Nobile"/>
                <a:cs typeface="Nobile"/>
                <a:sym typeface="Nobile"/>
              </a:rPr>
              <a:t>75.0% accuracy</a:t>
            </a:r>
            <a:r>
              <a:rPr lang="en-US" sz="1650">
                <a:solidFill>
                  <a:srgbClr val="404155"/>
                </a:solidFill>
                <a:latin typeface="Nobile"/>
                <a:ea typeface="Nobile"/>
                <a:cs typeface="Nobile"/>
                <a:sym typeface="Nobile"/>
              </a:rPr>
              <a:t>.</a:t>
            </a:r>
            <a:endParaRPr sz="1650">
              <a:solidFill>
                <a:schemeClr val="dk1"/>
              </a:solidFill>
              <a:latin typeface="Calibri"/>
              <a:ea typeface="Calibri"/>
              <a:cs typeface="Calibri"/>
              <a:sym typeface="Calibri"/>
            </a:endParaRPr>
          </a:p>
        </p:txBody>
      </p:sp>
      <p:sp>
        <p:nvSpPr>
          <p:cNvPr id="207" name="Google Shape;207;p10"/>
          <p:cNvSpPr/>
          <p:nvPr/>
        </p:nvSpPr>
        <p:spPr>
          <a:xfrm>
            <a:off x="8280321" y="3406735"/>
            <a:ext cx="4233982" cy="529233"/>
          </a:xfrm>
          <a:prstGeom prst="rect">
            <a:avLst/>
          </a:prstGeom>
          <a:noFill/>
          <a:ln>
            <a:noFill/>
          </a:ln>
        </p:spPr>
        <p:txBody>
          <a:bodyPr anchorCtr="0" anchor="t" bIns="0" lIns="0" spcFirstLastPara="1" rIns="0" wrap="square" tIns="0">
            <a:noAutofit/>
          </a:bodyPr>
          <a:lstStyle/>
          <a:p>
            <a:pPr indent="0" lvl="0" marL="0" marR="0" rtl="0" algn="ctr">
              <a:lnSpc>
                <a:spcPct val="125757"/>
              </a:lnSpc>
              <a:spcBef>
                <a:spcPts val="0"/>
              </a:spcBef>
              <a:spcAft>
                <a:spcPts val="0"/>
              </a:spcAft>
              <a:buClr>
                <a:srgbClr val="1B1B27"/>
              </a:buClr>
              <a:buSzPts val="3300"/>
              <a:buFont typeface="Corben"/>
              <a:buNone/>
            </a:pPr>
            <a:r>
              <a:rPr lang="en-US" sz="3300">
                <a:solidFill>
                  <a:srgbClr val="1B1B27"/>
                </a:solidFill>
                <a:latin typeface="Corben"/>
                <a:ea typeface="Corben"/>
                <a:cs typeface="Corben"/>
                <a:sym typeface="Corben"/>
              </a:rPr>
              <a:t>About the model</a:t>
            </a:r>
            <a:endParaRPr sz="3300">
              <a:solidFill>
                <a:schemeClr val="dk1"/>
              </a:solidFill>
              <a:latin typeface="Calibri"/>
              <a:ea typeface="Calibri"/>
              <a:cs typeface="Calibri"/>
              <a:sym typeface="Calibri"/>
            </a:endParaRPr>
          </a:p>
        </p:txBody>
      </p:sp>
      <p:sp>
        <p:nvSpPr>
          <p:cNvPr id="208" name="Google Shape;208;p10"/>
          <p:cNvSpPr/>
          <p:nvPr/>
        </p:nvSpPr>
        <p:spPr>
          <a:xfrm>
            <a:off x="6897767" y="4133493"/>
            <a:ext cx="6999208" cy="1775460"/>
          </a:xfrm>
          <a:prstGeom prst="rect">
            <a:avLst/>
          </a:prstGeom>
          <a:noFill/>
          <a:ln>
            <a:noFill/>
          </a:ln>
        </p:spPr>
        <p:txBody>
          <a:bodyPr anchorCtr="0" anchor="t" bIns="0" lIns="0" spcFirstLastPara="1" rIns="0" wrap="square" tIns="0">
            <a:noAutofit/>
          </a:bodyPr>
          <a:lstStyle/>
          <a:p>
            <a:pPr indent="-342900" lvl="0" marL="342900" marR="0" rtl="0" algn="l">
              <a:lnSpc>
                <a:spcPct val="154545"/>
              </a:lnSpc>
              <a:spcBef>
                <a:spcPts val="0"/>
              </a:spcBef>
              <a:spcAft>
                <a:spcPts val="0"/>
              </a:spcAft>
              <a:buClr>
                <a:srgbClr val="404155"/>
              </a:buClr>
              <a:buSzPts val="1650"/>
              <a:buFont typeface="Nobile"/>
              <a:buChar char="•"/>
            </a:pPr>
            <a:r>
              <a:rPr lang="en-US" sz="1650">
                <a:solidFill>
                  <a:srgbClr val="404155"/>
                </a:solidFill>
                <a:latin typeface="Nobile"/>
                <a:ea typeface="Nobile"/>
                <a:cs typeface="Nobile"/>
                <a:sym typeface="Nobile"/>
              </a:rPr>
              <a:t>The base model demonstrated 44.9 log loss.</a:t>
            </a:r>
            <a:endParaRPr sz="1650">
              <a:solidFill>
                <a:schemeClr val="dk1"/>
              </a:solidFill>
              <a:latin typeface="Calibri"/>
              <a:ea typeface="Calibri"/>
              <a:cs typeface="Calibri"/>
              <a:sym typeface="Calibri"/>
            </a:endParaRPr>
          </a:p>
          <a:p>
            <a:pPr indent="-342900" lvl="0" marL="342900" marR="0" rtl="0" algn="l">
              <a:lnSpc>
                <a:spcPct val="154545"/>
              </a:lnSpc>
              <a:spcBef>
                <a:spcPts val="0"/>
              </a:spcBef>
              <a:spcAft>
                <a:spcPts val="0"/>
              </a:spcAft>
              <a:buClr>
                <a:srgbClr val="404155"/>
              </a:buClr>
              <a:buSzPts val="1650"/>
              <a:buFont typeface="Nobile"/>
              <a:buChar char="•"/>
            </a:pPr>
            <a:r>
              <a:rPr lang="en-US" sz="1650">
                <a:solidFill>
                  <a:srgbClr val="404155"/>
                </a:solidFill>
                <a:latin typeface="Nobile"/>
                <a:ea typeface="Nobile"/>
                <a:cs typeface="Nobile"/>
                <a:sym typeface="Nobile"/>
              </a:rPr>
              <a:t>Misses were mainly the </a:t>
            </a:r>
            <a:r>
              <a:rPr b="1" lang="en-US" sz="1650">
                <a:solidFill>
                  <a:srgbClr val="404155"/>
                </a:solidFill>
                <a:latin typeface="Nobile"/>
                <a:ea typeface="Nobile"/>
                <a:cs typeface="Nobile"/>
                <a:sym typeface="Nobile"/>
              </a:rPr>
              <a:t>upsets</a:t>
            </a:r>
            <a:r>
              <a:rPr lang="en-US" sz="1650">
                <a:solidFill>
                  <a:srgbClr val="404155"/>
                </a:solidFill>
                <a:latin typeface="Nobile"/>
                <a:ea typeface="Nobile"/>
                <a:cs typeface="Nobile"/>
                <a:sym typeface="Nobile"/>
              </a:rPr>
              <a:t>.</a:t>
            </a:r>
            <a:endParaRPr sz="1650">
              <a:solidFill>
                <a:schemeClr val="dk1"/>
              </a:solidFill>
              <a:latin typeface="Calibri"/>
              <a:ea typeface="Calibri"/>
              <a:cs typeface="Calibri"/>
              <a:sym typeface="Calibri"/>
            </a:endParaRPr>
          </a:p>
          <a:p>
            <a:pPr indent="-342900" lvl="0" marL="342900" marR="0" rtl="0" algn="l">
              <a:lnSpc>
                <a:spcPct val="154545"/>
              </a:lnSpc>
              <a:spcBef>
                <a:spcPts val="0"/>
              </a:spcBef>
              <a:spcAft>
                <a:spcPts val="0"/>
              </a:spcAft>
              <a:buClr>
                <a:srgbClr val="404155"/>
              </a:buClr>
              <a:buSzPts val="1650"/>
              <a:buFont typeface="Nobile"/>
              <a:buChar char="•"/>
            </a:pPr>
            <a:r>
              <a:rPr lang="en-US" sz="1650">
                <a:solidFill>
                  <a:srgbClr val="404155"/>
                </a:solidFill>
                <a:latin typeface="Nobile"/>
                <a:ea typeface="Nobile"/>
                <a:cs typeface="Nobile"/>
                <a:sym typeface="Nobile"/>
              </a:rPr>
              <a:t>Could've been even stronger if trusted the experts more.</a:t>
            </a:r>
            <a:endParaRPr sz="1650">
              <a:solidFill>
                <a:schemeClr val="dk1"/>
              </a:solidFill>
              <a:latin typeface="Calibri"/>
              <a:ea typeface="Calibri"/>
              <a:cs typeface="Calibri"/>
              <a:sym typeface="Calibri"/>
            </a:endParaRPr>
          </a:p>
        </p:txBody>
      </p:sp>
      <p:sp>
        <p:nvSpPr>
          <p:cNvPr id="209" name="Google Shape;209;p10"/>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p:nvPr/>
        </p:nvSpPr>
        <p:spPr>
          <a:xfrm>
            <a:off x="4039791" y="643295"/>
            <a:ext cx="6550700"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1B1B27"/>
              </a:buClr>
              <a:buSzPts val="4450"/>
              <a:buFont typeface="Corben"/>
              <a:buNone/>
            </a:pPr>
            <a:r>
              <a:rPr lang="en-US" sz="4450">
                <a:solidFill>
                  <a:srgbClr val="1B1B27"/>
                </a:solidFill>
                <a:latin typeface="Corben"/>
                <a:ea typeface="Corben"/>
                <a:cs typeface="Corben"/>
                <a:sym typeface="Corben"/>
              </a:rPr>
              <a:t>Conclusion &amp; Next Steps</a:t>
            </a:r>
            <a:endParaRPr sz="4450">
              <a:solidFill>
                <a:schemeClr val="dk1"/>
              </a:solidFill>
              <a:latin typeface="Calibri"/>
              <a:ea typeface="Calibri"/>
              <a:cs typeface="Calibri"/>
              <a:sym typeface="Calibri"/>
            </a:endParaRPr>
          </a:p>
        </p:txBody>
      </p:sp>
      <p:sp>
        <p:nvSpPr>
          <p:cNvPr id="216" name="Google Shape;216;p11"/>
          <p:cNvSpPr/>
          <p:nvPr/>
        </p:nvSpPr>
        <p:spPr>
          <a:xfrm>
            <a:off x="793790" y="1442799"/>
            <a:ext cx="9788604"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B1B27"/>
              </a:buClr>
              <a:buSzPts val="3550"/>
              <a:buFont typeface="Corben"/>
              <a:buNone/>
            </a:pPr>
            <a:r>
              <a:rPr lang="en-US" sz="3550">
                <a:solidFill>
                  <a:srgbClr val="1B1B27"/>
                </a:solidFill>
                <a:latin typeface="Corben"/>
                <a:ea typeface="Corben"/>
                <a:cs typeface="Corben"/>
                <a:sym typeface="Corben"/>
              </a:rPr>
              <a:t>Future Improvements: Refining Our Approach</a:t>
            </a:r>
            <a:endParaRPr sz="3550">
              <a:solidFill>
                <a:schemeClr val="dk1"/>
              </a:solidFill>
              <a:latin typeface="Calibri"/>
              <a:ea typeface="Calibri"/>
              <a:cs typeface="Calibri"/>
              <a:sym typeface="Calibri"/>
            </a:endParaRPr>
          </a:p>
        </p:txBody>
      </p:sp>
      <p:sp>
        <p:nvSpPr>
          <p:cNvPr id="217" name="Google Shape;217;p11"/>
          <p:cNvSpPr/>
          <p:nvPr/>
        </p:nvSpPr>
        <p:spPr>
          <a:xfrm>
            <a:off x="793790" y="2349937"/>
            <a:ext cx="2173724" cy="1306949"/>
          </a:xfrm>
          <a:prstGeom prst="roundRect">
            <a:avLst>
              <a:gd fmla="val 7289" name="adj"/>
            </a:avLst>
          </a:prstGeom>
          <a:solidFill>
            <a:srgbClr val="D2D9F9"/>
          </a:solidFill>
          <a:ln cap="flat" cmpd="sng" w="9525">
            <a:solidFill>
              <a:srgbClr val="B8BFD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1"/>
          <p:cNvSpPr/>
          <p:nvPr/>
        </p:nvSpPr>
        <p:spPr>
          <a:xfrm>
            <a:off x="1721167" y="2804041"/>
            <a:ext cx="318968" cy="398621"/>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404155"/>
              </a:buClr>
              <a:buSzPts val="2500"/>
              <a:buFont typeface="Corben"/>
              <a:buNone/>
            </a:pPr>
            <a:r>
              <a:rPr lang="en-US" sz="2500">
                <a:solidFill>
                  <a:srgbClr val="404155"/>
                </a:solidFill>
                <a:latin typeface="Corben"/>
                <a:ea typeface="Corben"/>
                <a:cs typeface="Corben"/>
                <a:sym typeface="Corben"/>
              </a:rPr>
              <a:t>1</a:t>
            </a:r>
            <a:endParaRPr sz="2500">
              <a:solidFill>
                <a:schemeClr val="dk1"/>
              </a:solidFill>
              <a:latin typeface="Calibri"/>
              <a:ea typeface="Calibri"/>
              <a:cs typeface="Calibri"/>
              <a:sym typeface="Calibri"/>
            </a:endParaRPr>
          </a:p>
        </p:txBody>
      </p:sp>
      <p:sp>
        <p:nvSpPr>
          <p:cNvPr id="219" name="Google Shape;219;p11"/>
          <p:cNvSpPr/>
          <p:nvPr/>
        </p:nvSpPr>
        <p:spPr>
          <a:xfrm>
            <a:off x="3194328" y="2576751"/>
            <a:ext cx="394346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Preserve Base Model Strength</a:t>
            </a:r>
            <a:endParaRPr sz="2200">
              <a:solidFill>
                <a:schemeClr val="dk1"/>
              </a:solidFill>
              <a:latin typeface="Calibri"/>
              <a:ea typeface="Calibri"/>
              <a:cs typeface="Calibri"/>
              <a:sym typeface="Calibri"/>
            </a:endParaRPr>
          </a:p>
        </p:txBody>
      </p:sp>
      <p:sp>
        <p:nvSpPr>
          <p:cNvPr id="220" name="Google Shape;220;p11"/>
          <p:cNvSpPr/>
          <p:nvPr/>
        </p:nvSpPr>
        <p:spPr>
          <a:xfrm>
            <a:off x="3194328" y="3067169"/>
            <a:ext cx="9552623"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Maintain the robust statistical foundation of our initial ML model, which performed well.</a:t>
            </a:r>
            <a:endParaRPr sz="1750">
              <a:solidFill>
                <a:schemeClr val="dk1"/>
              </a:solidFill>
              <a:latin typeface="Calibri"/>
              <a:ea typeface="Calibri"/>
              <a:cs typeface="Calibri"/>
              <a:sym typeface="Calibri"/>
            </a:endParaRPr>
          </a:p>
        </p:txBody>
      </p:sp>
      <p:sp>
        <p:nvSpPr>
          <p:cNvPr id="221" name="Google Shape;221;p11"/>
          <p:cNvSpPr/>
          <p:nvPr/>
        </p:nvSpPr>
        <p:spPr>
          <a:xfrm>
            <a:off x="3080861" y="3641646"/>
            <a:ext cx="10642402" cy="15240"/>
          </a:xfrm>
          <a:prstGeom prst="roundRect">
            <a:avLst>
              <a:gd fmla="val 625116" name="adj"/>
            </a:avLst>
          </a:prstGeom>
          <a:solidFill>
            <a:srgbClr val="B8BF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1"/>
          <p:cNvSpPr/>
          <p:nvPr/>
        </p:nvSpPr>
        <p:spPr>
          <a:xfrm>
            <a:off x="793790" y="3770233"/>
            <a:ext cx="4347567" cy="1669852"/>
          </a:xfrm>
          <a:prstGeom prst="roundRect">
            <a:avLst>
              <a:gd fmla="val 5705" name="adj"/>
            </a:avLst>
          </a:prstGeom>
          <a:solidFill>
            <a:srgbClr val="D2D9F9"/>
          </a:solidFill>
          <a:ln cap="flat" cmpd="sng" w="9525">
            <a:solidFill>
              <a:srgbClr val="B8BFD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1"/>
          <p:cNvSpPr/>
          <p:nvPr/>
        </p:nvSpPr>
        <p:spPr>
          <a:xfrm>
            <a:off x="2808089" y="4405789"/>
            <a:ext cx="318968" cy="398621"/>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404155"/>
              </a:buClr>
              <a:buSzPts val="2500"/>
              <a:buFont typeface="Corben"/>
              <a:buNone/>
            </a:pPr>
            <a:r>
              <a:rPr lang="en-US" sz="2500">
                <a:solidFill>
                  <a:srgbClr val="404155"/>
                </a:solidFill>
                <a:latin typeface="Corben"/>
                <a:ea typeface="Corben"/>
                <a:cs typeface="Corben"/>
                <a:sym typeface="Corben"/>
              </a:rPr>
              <a:t>2</a:t>
            </a:r>
            <a:endParaRPr sz="2500">
              <a:solidFill>
                <a:schemeClr val="dk1"/>
              </a:solidFill>
              <a:latin typeface="Calibri"/>
              <a:ea typeface="Calibri"/>
              <a:cs typeface="Calibri"/>
              <a:sym typeface="Calibri"/>
            </a:endParaRPr>
          </a:p>
        </p:txBody>
      </p:sp>
      <p:sp>
        <p:nvSpPr>
          <p:cNvPr id="224" name="Google Shape;224;p11"/>
          <p:cNvSpPr/>
          <p:nvPr/>
        </p:nvSpPr>
        <p:spPr>
          <a:xfrm>
            <a:off x="5368171" y="3997047"/>
            <a:ext cx="480976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Integrate Expert &amp; Sentiment Layers</a:t>
            </a:r>
            <a:endParaRPr sz="2200">
              <a:solidFill>
                <a:schemeClr val="dk1"/>
              </a:solidFill>
              <a:latin typeface="Calibri"/>
              <a:ea typeface="Calibri"/>
              <a:cs typeface="Calibri"/>
              <a:sym typeface="Calibri"/>
            </a:endParaRPr>
          </a:p>
        </p:txBody>
      </p:sp>
      <p:sp>
        <p:nvSpPr>
          <p:cNvPr id="225" name="Google Shape;225;p11"/>
          <p:cNvSpPr/>
          <p:nvPr/>
        </p:nvSpPr>
        <p:spPr>
          <a:xfrm>
            <a:off x="5368171" y="4487466"/>
            <a:ext cx="824162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Continue to incorporate external insights from specialists and public discussion.</a:t>
            </a:r>
            <a:endParaRPr sz="1750">
              <a:solidFill>
                <a:schemeClr val="dk1"/>
              </a:solidFill>
              <a:latin typeface="Calibri"/>
              <a:ea typeface="Calibri"/>
              <a:cs typeface="Calibri"/>
              <a:sym typeface="Calibri"/>
            </a:endParaRPr>
          </a:p>
        </p:txBody>
      </p:sp>
      <p:sp>
        <p:nvSpPr>
          <p:cNvPr id="226" name="Google Shape;226;p11"/>
          <p:cNvSpPr/>
          <p:nvPr/>
        </p:nvSpPr>
        <p:spPr>
          <a:xfrm>
            <a:off x="5254704" y="5424845"/>
            <a:ext cx="8468558" cy="15240"/>
          </a:xfrm>
          <a:prstGeom prst="roundRect">
            <a:avLst>
              <a:gd fmla="val 625116" name="adj"/>
            </a:avLst>
          </a:prstGeom>
          <a:solidFill>
            <a:srgbClr val="B8BF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1"/>
          <p:cNvSpPr/>
          <p:nvPr/>
        </p:nvSpPr>
        <p:spPr>
          <a:xfrm>
            <a:off x="793790" y="5553432"/>
            <a:ext cx="6521410" cy="2032754"/>
          </a:xfrm>
          <a:prstGeom prst="roundRect">
            <a:avLst>
              <a:gd fmla="val 4687" name="adj"/>
            </a:avLst>
          </a:prstGeom>
          <a:solidFill>
            <a:srgbClr val="D2D9F9"/>
          </a:solidFill>
          <a:ln cap="flat" cmpd="sng" w="9525">
            <a:solidFill>
              <a:srgbClr val="B8BFD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1"/>
          <p:cNvSpPr/>
          <p:nvPr/>
        </p:nvSpPr>
        <p:spPr>
          <a:xfrm>
            <a:off x="3895011" y="6370439"/>
            <a:ext cx="318968" cy="398621"/>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404155"/>
              </a:buClr>
              <a:buSzPts val="2500"/>
              <a:buFont typeface="Corben"/>
              <a:buNone/>
            </a:pPr>
            <a:r>
              <a:rPr lang="en-US" sz="2500">
                <a:solidFill>
                  <a:srgbClr val="404155"/>
                </a:solidFill>
                <a:latin typeface="Corben"/>
                <a:ea typeface="Corben"/>
                <a:cs typeface="Corben"/>
                <a:sym typeface="Corben"/>
              </a:rPr>
              <a:t>3</a:t>
            </a:r>
            <a:endParaRPr sz="2500">
              <a:solidFill>
                <a:schemeClr val="dk1"/>
              </a:solidFill>
              <a:latin typeface="Calibri"/>
              <a:ea typeface="Calibri"/>
              <a:cs typeface="Calibri"/>
              <a:sym typeface="Calibri"/>
            </a:endParaRPr>
          </a:p>
        </p:txBody>
      </p:sp>
      <p:sp>
        <p:nvSpPr>
          <p:cNvPr id="229" name="Google Shape;229;p11"/>
          <p:cNvSpPr/>
          <p:nvPr/>
        </p:nvSpPr>
        <p:spPr>
          <a:xfrm>
            <a:off x="7542014" y="5780246"/>
            <a:ext cx="465641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4155"/>
              </a:buClr>
              <a:buSzPts val="2200"/>
              <a:buFont typeface="Corben"/>
              <a:buNone/>
            </a:pPr>
            <a:r>
              <a:rPr lang="en-US" sz="2200">
                <a:solidFill>
                  <a:srgbClr val="404155"/>
                </a:solidFill>
                <a:latin typeface="Corben"/>
                <a:ea typeface="Corben"/>
                <a:cs typeface="Corben"/>
                <a:sym typeface="Corben"/>
              </a:rPr>
              <a:t>Implement Targeted Override Logic</a:t>
            </a:r>
            <a:endParaRPr sz="2200">
              <a:solidFill>
                <a:schemeClr val="dk1"/>
              </a:solidFill>
              <a:latin typeface="Calibri"/>
              <a:ea typeface="Calibri"/>
              <a:cs typeface="Calibri"/>
              <a:sym typeface="Calibri"/>
            </a:endParaRPr>
          </a:p>
        </p:txBody>
      </p:sp>
      <p:sp>
        <p:nvSpPr>
          <p:cNvPr id="230" name="Google Shape;230;p11"/>
          <p:cNvSpPr/>
          <p:nvPr/>
        </p:nvSpPr>
        <p:spPr>
          <a:xfrm>
            <a:off x="7542014" y="6270665"/>
            <a:ext cx="6067782"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4155"/>
              </a:buClr>
              <a:buSzPts val="1750"/>
              <a:buFont typeface="Nobile"/>
              <a:buNone/>
            </a:pPr>
            <a:r>
              <a:rPr lang="en-US" sz="1750">
                <a:solidFill>
                  <a:srgbClr val="404155"/>
                </a:solidFill>
                <a:latin typeface="Nobile"/>
                <a:ea typeface="Nobile"/>
                <a:cs typeface="Nobile"/>
                <a:sym typeface="Nobile"/>
              </a:rPr>
              <a:t>Develop selective override rules for teams exhibiting strong underperformance signals or unusual warning signs from expert analysis.</a:t>
            </a:r>
            <a:endParaRPr sz="1750">
              <a:solidFill>
                <a:schemeClr val="dk1"/>
              </a:solidFill>
              <a:latin typeface="Calibri"/>
              <a:ea typeface="Calibri"/>
              <a:cs typeface="Calibri"/>
              <a:sym typeface="Calibri"/>
            </a:endParaRPr>
          </a:p>
        </p:txBody>
      </p:sp>
      <p:sp>
        <p:nvSpPr>
          <p:cNvPr id="231" name="Google Shape;231;p11"/>
          <p:cNvSpPr/>
          <p:nvPr/>
        </p:nvSpPr>
        <p:spPr>
          <a:xfrm>
            <a:off x="12705347" y="7652084"/>
            <a:ext cx="1828800" cy="493295"/>
          </a:xfrm>
          <a:prstGeom prst="rect">
            <a:avLst/>
          </a:prstGeom>
          <a:solidFill>
            <a:srgbClr val="F9F9FF"/>
          </a:solidFill>
          <a:ln cap="flat" cmpd="sng" w="12700">
            <a:solidFill>
              <a:srgbClr val="F9F9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2026-03-24T02:58:52Z</dcterms:created>
  <dc:creator>User</dc:creator>
</cp:coreProperties>
</file>